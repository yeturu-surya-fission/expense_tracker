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Expense Tracker is a Telegram bot that keeps your expense book for you. You write normal sentences and it updates your cash and bank balances.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real situations. People spend through UPI, cards and cash all day. Writing each payment down as it happens is too much effort, so they skip it. At month end there is no clear picture, cash and bank get mixed up, budgets are checked too late, and bank statements are PDFs nobody wants to retype.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is simple: just chat. You say what happened in your own words; the AI understands the sentence and the ledger updates your balances, with no forms, no category lists and no manual maths. Four decisions make it work: Telegram is the interface so there is nothing new to install; an AI model understands the sentence; plain code does all the money maths in PostgreSQL so numbers are always exact; and when something is missing, the bot asks instead of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things. Record expenses and income by chat. Keep cash and bank separate and move money between them. Set budgets with alerts. Import a bank statement PDF. Show balances, history and monthly or daily reports. And undo any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left to right. You talk to the bot on Telegram. The bot service passes your message to the AI agent. The agent asks the LLM what to do and then uses tools. The tools and the core logic update PostgreSQL, which stores everything. Menu buttons like balance skip the AI and read the database directly, so they are instant.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graph from graph.py: three nodes. The agent node asks the LLM which tools to use. The tools node runs one tool per step and loops on itself while more calls from the same answer are waiting. When all are done it goes to respond, which builds the reply, then END. It returns to the agent only when a tool failed. If the LLM answers in plain text instead of using a tool, the text is replaced with the fixed refusal and the graph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everyday examples. A normal expense where the bot asks which account. Income. An ATM withdrawal, which moves money from bank to cash and is not counted as spending. A budget limit. A bank statement PDF. And a question about a past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583680" cy="1463040"/>
          </a:xfrm>
          <a:prstGeom prst="rect">
            <a:avLst/>
          </a:prstGeom>
          <a:noFill/>
          <a:ln/>
        </p:spPr>
        <p:txBody>
          <a:bodyPr wrap="square" rtlCol="0"/>
          <a:lstStyle>
            <a:lvl1pPr indent="0" marL="0">
              <a:buNone/>
              <a:defRPr lang="en-US" sz="6600" b="1" dirty="0">
                <a:solidFill>
                  <a:schemeClr val="bg1"/>
                </a:solidFill>
              </a:defRPr>
            </a:lvl1pPr>
          </a:lstStyle>
          <a:p>
            <a:pPr indent="0" marL="0">
              <a:buNone/>
            </a:pPr>
            <a:endParaRPr lang="en-US" sz="6600" dirty="0"/>
          </a:p>
        </p:txBody>
      </p:sp>
      <p:sp>
        <p:nvSpPr>
          <p:cNvPr id="3" name="Text 0"/>
          <p:cNvSpPr/>
          <p:nvPr>
            <p:ph idx="101" type="body" hasCustomPrompt="1"/>
          </p:nvPr>
        </p:nvSpPr>
        <p:spPr>
          <a:xfrm>
            <a:off x="731520" y="3474720"/>
            <a:ext cx="6217920" cy="1097280"/>
          </a:xfrm>
          <a:prstGeom prst="rect">
            <a:avLst/>
          </a:prstGeom>
          <a:noFill/>
          <a:ln/>
        </p:spPr>
        <p:txBody>
          <a:bodyPr wrap="square" rtlCol="0"/>
          <a:lstStyle>
            <a:lvl1pPr indent="0" marL="0">
              <a:buNone/>
              <a:defRPr lang="en-US" sz="2600" dirty="0">
                <a:solidFill>
                  <a:schemeClr val="bg2"/>
                </a:solidFill>
              </a:defRPr>
            </a:lvl1pPr>
          </a:lstStyle>
          <a:p>
            <a:pPr indent="0" marL="0">
              <a:buNone/>
            </a:pPr>
            <a:endParaRPr lang="en-US" sz="2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800" b="1" dirty="0">
                <a:solidFill>
                  <a:schemeClr val="tx2"/>
                </a:solidFill>
              </a:defRPr>
            </a:lvl1pPr>
          </a:lstStyle>
          <a:p>
            <a:pPr indent="0" marL="0">
              <a:buNone/>
            </a:pPr>
            <a:endParaRPr lang="en-US" sz="3800" dirty="0"/>
          </a:p>
        </p:txBody>
      </p:sp>
      <p:sp>
        <p:nvSpPr>
          <p:cNvPr id="3" name="Text 0"/>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100" dirty="0">
                <a:solidFill>
                  <a:schemeClr val="accent1"/>
                </a:solidFill>
              </a:rPr>
              <a:t>Expense Tracker</a:t>
            </a:r>
            <a:endParaRPr lang="en-US" sz="1100" dirty="0"/>
          </a:p>
        </p:txBody>
      </p:sp>
      <p:sp>
        <p:nvSpPr>
          <p:cNvPr id="25" name="Slide Number Placeholder 0"/>
          <p:cNvSpPr>
            <a:spLocks noGrp="1"/>
          </p:cNvSpPr>
          <p:nvPr>
            <p:ph type="sldNum" sz="quarter" idx="4294967295"/>
          </p:nvPr>
        </p:nvSpPr>
        <p:spPr>
          <a:xfrm>
            <a:off x="11064240" y="6446520"/>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583680" cy="1463040"/>
          </a:xfrm>
          <a:prstGeom prst="rect">
            <a:avLst/>
          </a:prstGeom>
          <a:noFill/>
          <a:ln/>
        </p:spPr>
        <p:txBody>
          <a:bodyPr wrap="square" lIns="0" tIns="0" rIns="0" bIns="0" rtlCol="0" anchor="b"/>
          <a:lstStyle/>
          <a:p>
            <a:pPr indent="0" marL="0">
              <a:buNone/>
            </a:pPr>
            <a:r>
              <a:rPr lang="en-US" sz="6600" b="1" dirty="0">
                <a:solidFill>
                  <a:schemeClr val="bg1"/>
                </a:solidFill>
              </a:rPr>
              <a:t>Expense Tracker</a:t>
            </a:r>
            <a:endParaRPr lang="en-US" sz="6600" dirty="0"/>
          </a:p>
        </p:txBody>
      </p:sp>
      <p:sp>
        <p:nvSpPr>
          <p:cNvPr id="3" name="Text 0"/>
          <p:cNvSpPr/>
          <p:nvPr>
            <p:ph idx="101" type="body" hasCustomPrompt="1"/>
          </p:nvPr>
        </p:nvSpPr>
        <p:spPr>
          <a:xfrm>
            <a:off x="731520" y="3474720"/>
            <a:ext cx="6217920" cy="1097280"/>
          </a:xfrm>
          <a:prstGeom prst="rect">
            <a:avLst/>
          </a:prstGeom>
          <a:noFill/>
          <a:ln/>
        </p:spPr>
        <p:txBody>
          <a:bodyPr wrap="square" lIns="0" tIns="0" rIns="0" bIns="0" rtlCol="0" anchor="t"/>
          <a:lstStyle/>
          <a:p>
            <a:pPr indent="0" marL="0">
              <a:buNone/>
            </a:pPr>
            <a:r>
              <a:rPr lang="en-US" sz="2600" dirty="0">
                <a:solidFill>
                  <a:schemeClr val="bg2"/>
                </a:solidFill>
              </a:rPr>
              <a:t>Track your cash and bank spending just by chatting on Telegram</a:t>
            </a:r>
            <a:endParaRPr lang="en-US" sz="2600" dirty="0"/>
          </a:p>
        </p:txBody>
      </p:sp>
      <p:sp>
        <p:nvSpPr>
          <p:cNvPr id="4" name="sun"/>
          <p:cNvSpPr/>
          <p:nvPr/>
        </p:nvSpPr>
        <p:spPr>
          <a:xfrm>
            <a:off x="6766560" y="4480560"/>
            <a:ext cx="2194560" cy="2194560"/>
          </a:xfrm>
          <a:prstGeom prst="ellipse">
            <a:avLst/>
          </a:prstGeom>
          <a:solidFill>
            <a:schemeClr val="accent2"/>
          </a:solidFill>
          <a:ln w="12700">
            <a:solidFill>
              <a:schemeClr val="accent2"/>
            </a:solidFill>
            <a:prstDash val="solid"/>
          </a:ln>
        </p:spPr>
      </p:sp>
      <p:sp>
        <p:nvSpPr>
          <p:cNvPr id="5" name="phone"/>
          <p:cNvSpPr/>
          <p:nvPr/>
        </p:nvSpPr>
        <p:spPr>
          <a:xfrm>
            <a:off x="7955280" y="822960"/>
            <a:ext cx="3657600" cy="5029200"/>
          </a:xfrm>
          <a:prstGeom prst="roundRect">
            <a:avLst>
              <a:gd name="adj" fmla="val 7500"/>
            </a:avLst>
          </a:prstGeom>
          <a:solidFill>
            <a:schemeClr val="tx1"/>
          </a:solidFill>
          <a:ln w="38100">
            <a:solidFill>
              <a:schemeClr val="accent2"/>
            </a:solidFill>
            <a:prstDash val="solid"/>
          </a:ln>
        </p:spPr>
      </p:sp>
      <p:sp>
        <p:nvSpPr>
          <p:cNvPr id="6" name="screen"/>
          <p:cNvSpPr/>
          <p:nvPr/>
        </p:nvSpPr>
        <p:spPr>
          <a:xfrm>
            <a:off x="8183880" y="1143000"/>
            <a:ext cx="3200400" cy="4389120"/>
          </a:xfrm>
          <a:prstGeom prst="roundRect">
            <a:avLst>
              <a:gd name="adj" fmla="val 4286"/>
            </a:avLst>
          </a:prstGeom>
          <a:solidFill>
            <a:schemeClr val="bg1"/>
          </a:solidFill>
          <a:ln w="12700">
            <a:solidFill>
              <a:schemeClr val="bg1"/>
            </a:solidFill>
            <a:prstDash val="solid"/>
          </a:ln>
        </p:spPr>
      </p:sp>
      <p:sp>
        <p:nvSpPr>
          <p:cNvPr id="7" name="box-1"/>
          <p:cNvSpPr/>
          <p:nvPr/>
        </p:nvSpPr>
        <p:spPr>
          <a:xfrm>
            <a:off x="8915400" y="1417320"/>
            <a:ext cx="2286000" cy="548640"/>
          </a:xfrm>
          <a:prstGeom prst="roundRect">
            <a:avLst>
              <a:gd name="adj" fmla="val 16667"/>
            </a:avLst>
          </a:prstGeom>
          <a:solidFill>
            <a:schemeClr val="accent1"/>
          </a:solidFill>
          <a:ln w="12700">
            <a:solidFill>
              <a:schemeClr val="accent1"/>
            </a:solidFill>
            <a:prstDash val="solid"/>
          </a:ln>
        </p:spPr>
      </p:sp>
      <p:sp>
        <p:nvSpPr>
          <p:cNvPr id="8" name="text-2"/>
          <p:cNvSpPr txBox="1"/>
          <p:nvPr/>
        </p:nvSpPr>
        <p:spPr>
          <a:xfrm>
            <a:off x="9006840" y="1417320"/>
            <a:ext cx="2103120" cy="548640"/>
          </a:xfrm>
          <a:prstGeom prst="rect">
            <a:avLst/>
          </a:prstGeom>
          <a:noFill/>
          <a:ln/>
        </p:spPr>
        <p:txBody>
          <a:bodyPr wrap="square" lIns="0" tIns="0" rIns="0" bIns="0" rtlCol="0" anchor="ctr"/>
          <a:lstStyle/>
          <a:p>
            <a:pPr algn="ctr" indent="0" marL="0">
              <a:buNone/>
            </a:pPr>
            <a:r>
              <a:rPr lang="en-US" sz="1400" dirty="0">
                <a:solidFill>
                  <a:schemeClr val="bg1"/>
                </a:solidFill>
              </a:rPr>
              <a:t>spent 300 on ice cream</a:t>
            </a:r>
            <a:endParaRPr lang="en-US" sz="1400" dirty="0"/>
          </a:p>
        </p:txBody>
      </p:sp>
      <p:sp>
        <p:nvSpPr>
          <p:cNvPr id="9" name="box-3"/>
          <p:cNvSpPr/>
          <p:nvPr/>
        </p:nvSpPr>
        <p:spPr>
          <a:xfrm>
            <a:off x="8366760" y="2194560"/>
            <a:ext cx="2743200" cy="548640"/>
          </a:xfrm>
          <a:prstGeom prst="roundRect">
            <a:avLst>
              <a:gd name="adj" fmla="val 16667"/>
            </a:avLst>
          </a:prstGeom>
          <a:solidFill>
            <a:schemeClr val="bg2"/>
          </a:solidFill>
          <a:ln w="12700">
            <a:solidFill>
              <a:schemeClr val="bg2"/>
            </a:solidFill>
            <a:prstDash val="solid"/>
          </a:ln>
        </p:spPr>
      </p:sp>
      <p:sp>
        <p:nvSpPr>
          <p:cNvPr id="10" name="text-4"/>
          <p:cNvSpPr txBox="1"/>
          <p:nvPr/>
        </p:nvSpPr>
        <p:spPr>
          <a:xfrm>
            <a:off x="8458200" y="2194560"/>
            <a:ext cx="2560320" cy="548640"/>
          </a:xfrm>
          <a:prstGeom prst="rect">
            <a:avLst/>
          </a:prstGeom>
          <a:noFill/>
          <a:ln/>
        </p:spPr>
        <p:txBody>
          <a:bodyPr wrap="square" lIns="0" tIns="0" rIns="0" bIns="0" rtlCol="0" anchor="ctr"/>
          <a:lstStyle/>
          <a:p>
            <a:pPr algn="ctr" indent="0" marL="0">
              <a:buNone/>
            </a:pPr>
            <a:r>
              <a:rPr lang="en-US" sz="1400" dirty="0">
                <a:solidFill>
                  <a:schemeClr val="tx1"/>
                </a:solidFill>
              </a:rPr>
              <a:t>Cash or bank?</a:t>
            </a:r>
            <a:endParaRPr lang="en-US" sz="1400" dirty="0"/>
          </a:p>
        </p:txBody>
      </p:sp>
      <p:sp>
        <p:nvSpPr>
          <p:cNvPr id="11" name="box-5"/>
          <p:cNvSpPr/>
          <p:nvPr/>
        </p:nvSpPr>
        <p:spPr>
          <a:xfrm>
            <a:off x="8366760" y="2834640"/>
            <a:ext cx="1280160" cy="457200"/>
          </a:xfrm>
          <a:prstGeom prst="roundRect">
            <a:avLst>
              <a:gd name="adj" fmla="val 20000"/>
            </a:avLst>
          </a:prstGeom>
          <a:solidFill>
            <a:schemeClr val="accent2"/>
          </a:solidFill>
          <a:ln w="12700">
            <a:solidFill>
              <a:schemeClr val="accent2"/>
            </a:solidFill>
            <a:prstDash val="solid"/>
          </a:ln>
        </p:spPr>
      </p:sp>
      <p:sp>
        <p:nvSpPr>
          <p:cNvPr id="12" name="text-6"/>
          <p:cNvSpPr txBox="1"/>
          <p:nvPr/>
        </p:nvSpPr>
        <p:spPr>
          <a:xfrm>
            <a:off x="8458200" y="2834640"/>
            <a:ext cx="1097280" cy="457200"/>
          </a:xfrm>
          <a:prstGeom prst="rect">
            <a:avLst/>
          </a:prstGeom>
          <a:noFill/>
          <a:ln/>
        </p:spPr>
        <p:txBody>
          <a:bodyPr wrap="square" lIns="0" tIns="0" rIns="0" bIns="0" rtlCol="0" anchor="ctr"/>
          <a:lstStyle/>
          <a:p>
            <a:pPr algn="ctr" indent="0" marL="0">
              <a:buNone/>
            </a:pPr>
            <a:r>
              <a:rPr lang="en-US" sz="1400" b="1" dirty="0">
                <a:solidFill>
                  <a:schemeClr val="tx1"/>
                </a:solidFill>
              </a:rPr>
              <a:t>Cash</a:t>
            </a:r>
            <a:endParaRPr lang="en-US" sz="1400" dirty="0"/>
          </a:p>
        </p:txBody>
      </p:sp>
      <p:sp>
        <p:nvSpPr>
          <p:cNvPr id="13" name="box-7"/>
          <p:cNvSpPr/>
          <p:nvPr/>
        </p:nvSpPr>
        <p:spPr>
          <a:xfrm>
            <a:off x="9784080" y="2834640"/>
            <a:ext cx="1280160" cy="457200"/>
          </a:xfrm>
          <a:prstGeom prst="roundRect">
            <a:avLst>
              <a:gd name="adj" fmla="val 20000"/>
            </a:avLst>
          </a:prstGeom>
          <a:solidFill>
            <a:schemeClr val="accent2"/>
          </a:solidFill>
          <a:ln w="12700">
            <a:solidFill>
              <a:schemeClr val="accent2"/>
            </a:solidFill>
            <a:prstDash val="solid"/>
          </a:ln>
        </p:spPr>
      </p:sp>
      <p:sp>
        <p:nvSpPr>
          <p:cNvPr id="14" name="text-8"/>
          <p:cNvSpPr txBox="1"/>
          <p:nvPr/>
        </p:nvSpPr>
        <p:spPr>
          <a:xfrm>
            <a:off x="9875520" y="2834640"/>
            <a:ext cx="1097280" cy="457200"/>
          </a:xfrm>
          <a:prstGeom prst="rect">
            <a:avLst/>
          </a:prstGeom>
          <a:noFill/>
          <a:ln/>
        </p:spPr>
        <p:txBody>
          <a:bodyPr wrap="square" lIns="0" tIns="0" rIns="0" bIns="0" rtlCol="0" anchor="ctr"/>
          <a:lstStyle/>
          <a:p>
            <a:pPr algn="ctr" indent="0" marL="0">
              <a:buNone/>
            </a:pPr>
            <a:r>
              <a:rPr lang="en-US" sz="1400" b="1" dirty="0">
                <a:solidFill>
                  <a:schemeClr val="tx1"/>
                </a:solidFill>
              </a:rPr>
              <a:t>Bank</a:t>
            </a:r>
            <a:endParaRPr lang="en-US" sz="1400" dirty="0"/>
          </a:p>
        </p:txBody>
      </p:sp>
      <p:sp>
        <p:nvSpPr>
          <p:cNvPr id="15" name="box-9"/>
          <p:cNvSpPr/>
          <p:nvPr/>
        </p:nvSpPr>
        <p:spPr>
          <a:xfrm>
            <a:off x="8366760" y="3566160"/>
            <a:ext cx="2834640" cy="1188720"/>
          </a:xfrm>
          <a:prstGeom prst="roundRect">
            <a:avLst>
              <a:gd name="adj" fmla="val 7692"/>
            </a:avLst>
          </a:prstGeom>
          <a:solidFill>
            <a:schemeClr val="bg2"/>
          </a:solidFill>
          <a:ln w="12700">
            <a:solidFill>
              <a:schemeClr val="bg2"/>
            </a:solidFill>
            <a:prstDash val="solid"/>
          </a:ln>
        </p:spPr>
      </p:sp>
      <p:sp>
        <p:nvSpPr>
          <p:cNvPr id="16" name="text-10"/>
          <p:cNvSpPr txBox="1"/>
          <p:nvPr/>
        </p:nvSpPr>
        <p:spPr>
          <a:xfrm>
            <a:off x="8458200" y="3566160"/>
            <a:ext cx="2651760" cy="1188720"/>
          </a:xfrm>
          <a:prstGeom prst="rect">
            <a:avLst/>
          </a:prstGeom>
          <a:noFill/>
          <a:ln/>
        </p:spPr>
        <p:txBody>
          <a:bodyPr wrap="square" lIns="0" tIns="0" rIns="0" bIns="0" rtlCol="0" anchor="ctr"/>
          <a:lstStyle/>
          <a:p>
            <a:pPr algn="ctr" indent="0" marL="0">
              <a:buNone/>
            </a:pPr>
            <a:r>
              <a:rPr lang="en-US" sz="1400" dirty="0">
                <a:solidFill>
                  <a:schemeClr val="tx1"/>
                </a:solidFill>
              </a:rPr>
              <a:t>Done. Spent ₹300 from cash. Cash balance: ₹700</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800" b="1" dirty="0">
                <a:solidFill>
                  <a:schemeClr val="tx2"/>
                </a:solidFill>
              </a:rPr>
              <a:t>Problem statement</a:t>
            </a:r>
            <a:endParaRPr lang="en-US" sz="3800" dirty="0"/>
          </a:p>
        </p:txBody>
      </p:sp>
      <p:sp>
        <p:nvSpPr>
          <p:cNvPr id="4" name="text-11"/>
          <p:cNvSpPr txBox="1"/>
          <p:nvPr/>
        </p:nvSpPr>
        <p:spPr>
          <a:xfrm>
            <a:off x="548640" y="1234440"/>
            <a:ext cx="11064240" cy="914400"/>
          </a:xfrm>
          <a:prstGeom prst="rect">
            <a:avLst/>
          </a:prstGeom>
          <a:noFill/>
          <a:ln/>
        </p:spPr>
        <p:txBody>
          <a:bodyPr wrap="square" lIns="0" tIns="0" rIns="0" bIns="0" rtlCol="0" anchor="t"/>
          <a:lstStyle/>
          <a:p>
            <a:pPr indent="0" marL="0">
              <a:buNone/>
            </a:pPr>
            <a:r>
              <a:rPr lang="en-US" sz="2500" b="1" dirty="0">
                <a:solidFill>
                  <a:schemeClr val="accent3"/>
                </a:solidFill>
              </a:rPr>
              <a:t>People cannot see where their money goes, because noting down every cash and bank payment as it happens is too much effort.</a:t>
            </a:r>
            <a:endParaRPr lang="en-US" sz="2500" dirty="0"/>
          </a:p>
        </p:txBody>
      </p:sp>
      <p:sp>
        <p:nvSpPr>
          <p:cNvPr id="5" name="text-12"/>
          <p:cNvSpPr txBox="1"/>
          <p:nvPr/>
        </p:nvSpPr>
        <p:spPr>
          <a:xfrm>
            <a:off x="548640" y="2240280"/>
            <a:ext cx="7315200" cy="320040"/>
          </a:xfrm>
          <a:prstGeom prst="rect">
            <a:avLst/>
          </a:prstGeom>
          <a:noFill/>
          <a:ln/>
        </p:spPr>
        <p:txBody>
          <a:bodyPr wrap="square" lIns="0" tIns="0" rIns="0" bIns="0" rtlCol="0" anchor="t"/>
          <a:lstStyle/>
          <a:p>
            <a:pPr indent="0" marL="0">
              <a:buNone/>
            </a:pPr>
            <a:r>
              <a:rPr lang="en-US" sz="1700" b="1" dirty="0">
                <a:solidFill>
                  <a:schemeClr val="accent1"/>
                </a:solidFill>
              </a:rPr>
              <a:t>What this looks like in real life</a:t>
            </a:r>
            <a:endParaRPr lang="en-US" sz="1700" dirty="0"/>
          </a:p>
        </p:txBody>
      </p:sp>
      <p:sp>
        <p:nvSpPr>
          <p:cNvPr id="6" name="card-13"/>
          <p:cNvSpPr/>
          <p:nvPr/>
        </p:nvSpPr>
        <p:spPr>
          <a:xfrm>
            <a:off x="548640" y="2651760"/>
            <a:ext cx="5394960" cy="1508760"/>
          </a:xfrm>
          <a:prstGeom prst="roundRect">
            <a:avLst>
              <a:gd name="adj" fmla="val 7273"/>
            </a:avLst>
          </a:prstGeom>
          <a:solidFill>
            <a:schemeClr val="bg2"/>
          </a:solidFill>
          <a:ln w="12700">
            <a:solidFill>
              <a:schemeClr val="bg2"/>
            </a:solidFill>
            <a:prstDash val="solid"/>
          </a:ln>
        </p:spPr>
      </p:sp>
      <p:sp>
        <p:nvSpPr>
          <p:cNvPr id="7" name="badge-14"/>
          <p:cNvSpPr/>
          <p:nvPr/>
        </p:nvSpPr>
        <p:spPr>
          <a:xfrm>
            <a:off x="822960" y="3035808"/>
            <a:ext cx="731520" cy="731520"/>
          </a:xfrm>
          <a:prstGeom prst="ellipse">
            <a:avLst/>
          </a:prstGeom>
          <a:solidFill>
            <a:srgbClr val="1F5FA8"/>
          </a:solidFill>
          <a:ln w="12700">
            <a:solidFill>
              <a:srgbClr val="1F5FA8"/>
            </a:solidFill>
            <a:prstDash val="solid"/>
          </a:ln>
        </p:spPr>
      </p:sp>
      <p:pic>
        <p:nvPicPr>
          <p:cNvPr id="8" name="icon-15" descr="Wallet icon">    </p:cNvPr>
          <p:cNvPicPr>
            <a:picLocks noChangeAspect="1"/>
          </p:cNvPicPr>
          <p:nvPr/>
        </p:nvPicPr>
        <p:blipFill>
          <a:blip r:embed="rId1"/>
          <a:stretch>
            <a:fillRect/>
          </a:stretch>
        </p:blipFill>
        <p:spPr>
          <a:xfrm>
            <a:off x="983894" y="3196742"/>
            <a:ext cx="409651" cy="409651"/>
          </a:xfrm>
          <a:prstGeom prst="rect">
            <a:avLst/>
          </a:prstGeom>
        </p:spPr>
      </p:pic>
      <p:sp>
        <p:nvSpPr>
          <p:cNvPr id="9" name="text-16"/>
          <p:cNvSpPr txBox="1"/>
          <p:nvPr/>
        </p:nvSpPr>
        <p:spPr>
          <a:xfrm>
            <a:off x="1783080" y="2834640"/>
            <a:ext cx="3931920" cy="685800"/>
          </a:xfrm>
          <a:prstGeom prst="rect">
            <a:avLst/>
          </a:prstGeom>
          <a:noFill/>
          <a:ln/>
        </p:spPr>
        <p:txBody>
          <a:bodyPr wrap="square" lIns="0" tIns="0" rIns="0" bIns="0" rtlCol="0" anchor="t"/>
          <a:lstStyle/>
          <a:p>
            <a:pPr indent="0" marL="0">
              <a:buNone/>
            </a:pPr>
            <a:r>
              <a:rPr lang="en-US" sz="1700" b="1" i="1" dirty="0">
                <a:solidFill>
                  <a:schemeClr val="tx2"/>
                </a:solidFill>
              </a:rPr>
              <a:t>"I paid by UPI and cash all week."</a:t>
            </a:r>
            <a:endParaRPr lang="en-US" sz="1700" dirty="0"/>
          </a:p>
        </p:txBody>
      </p:sp>
      <p:sp>
        <p:nvSpPr>
          <p:cNvPr id="10" name="text-17"/>
          <p:cNvSpPr txBox="1"/>
          <p:nvPr/>
        </p:nvSpPr>
        <p:spPr>
          <a:xfrm>
            <a:off x="1783080" y="3547872"/>
            <a:ext cx="3931920" cy="548640"/>
          </a:xfrm>
          <a:prstGeom prst="rect">
            <a:avLst/>
          </a:prstGeom>
          <a:noFill/>
          <a:ln/>
        </p:spPr>
        <p:txBody>
          <a:bodyPr wrap="square" lIns="0" tIns="0" rIns="0" bIns="0" rtlCol="0" anchor="t"/>
          <a:lstStyle/>
          <a:p>
            <a:pPr indent="0" marL="0">
              <a:buNone/>
            </a:pPr>
            <a:r>
              <a:rPr lang="en-US" sz="1500" dirty="0">
                <a:solidFill>
                  <a:schemeClr val="tx1"/>
                </a:solidFill>
              </a:rPr>
              <a:t>At month end there is no clue where the money went.</a:t>
            </a:r>
            <a:endParaRPr lang="en-US" sz="1500" dirty="0"/>
          </a:p>
        </p:txBody>
      </p:sp>
      <p:sp>
        <p:nvSpPr>
          <p:cNvPr id="11" name="card-18"/>
          <p:cNvSpPr/>
          <p:nvPr/>
        </p:nvSpPr>
        <p:spPr>
          <a:xfrm>
            <a:off x="6245352" y="2651760"/>
            <a:ext cx="5394960" cy="1508760"/>
          </a:xfrm>
          <a:prstGeom prst="roundRect">
            <a:avLst>
              <a:gd name="adj" fmla="val 7273"/>
            </a:avLst>
          </a:prstGeom>
          <a:solidFill>
            <a:schemeClr val="bg2"/>
          </a:solidFill>
          <a:ln w="12700">
            <a:solidFill>
              <a:schemeClr val="bg2"/>
            </a:solidFill>
            <a:prstDash val="solid"/>
          </a:ln>
        </p:spPr>
      </p:sp>
      <p:sp>
        <p:nvSpPr>
          <p:cNvPr id="12" name="badge-19"/>
          <p:cNvSpPr/>
          <p:nvPr/>
        </p:nvSpPr>
        <p:spPr>
          <a:xfrm>
            <a:off x="6519672" y="3035808"/>
            <a:ext cx="731520" cy="731520"/>
          </a:xfrm>
          <a:prstGeom prst="ellipse">
            <a:avLst/>
          </a:prstGeom>
          <a:solidFill>
            <a:srgbClr val="D9480F"/>
          </a:solidFill>
          <a:ln w="12700">
            <a:solidFill>
              <a:srgbClr val="D9480F"/>
            </a:solidFill>
            <a:prstDash val="solid"/>
          </a:ln>
        </p:spPr>
      </p:sp>
      <p:pic>
        <p:nvPicPr>
          <p:cNvPr id="13" name="icon-20" descr="HourglassHalf icon">    </p:cNvPr>
          <p:cNvPicPr>
            <a:picLocks noChangeAspect="1"/>
          </p:cNvPicPr>
          <p:nvPr/>
        </p:nvPicPr>
        <p:blipFill>
          <a:blip r:embed="rId2"/>
          <a:stretch>
            <a:fillRect/>
          </a:stretch>
        </p:blipFill>
        <p:spPr>
          <a:xfrm>
            <a:off x="6680606" y="3196742"/>
            <a:ext cx="409651" cy="409651"/>
          </a:xfrm>
          <a:prstGeom prst="rect">
            <a:avLst/>
          </a:prstGeom>
        </p:spPr>
      </p:pic>
      <p:sp>
        <p:nvSpPr>
          <p:cNvPr id="14" name="text-21"/>
          <p:cNvSpPr txBox="1"/>
          <p:nvPr/>
        </p:nvSpPr>
        <p:spPr>
          <a:xfrm>
            <a:off x="7479792" y="2834640"/>
            <a:ext cx="3931920" cy="685800"/>
          </a:xfrm>
          <a:prstGeom prst="rect">
            <a:avLst/>
          </a:prstGeom>
          <a:noFill/>
          <a:ln/>
        </p:spPr>
        <p:txBody>
          <a:bodyPr wrap="square" lIns="0" tIns="0" rIns="0" bIns="0" rtlCol="0" anchor="t"/>
          <a:lstStyle/>
          <a:p>
            <a:pPr indent="0" marL="0">
              <a:buNone/>
            </a:pPr>
            <a:r>
              <a:rPr lang="en-US" sz="1700" b="1" i="1" dirty="0">
                <a:solidFill>
                  <a:schemeClr val="tx2"/>
                </a:solidFill>
              </a:rPr>
              <a:t>"I'll note it down later."</a:t>
            </a:r>
            <a:endParaRPr lang="en-US" sz="1700" dirty="0"/>
          </a:p>
        </p:txBody>
      </p:sp>
      <p:sp>
        <p:nvSpPr>
          <p:cNvPr id="15" name="text-22"/>
          <p:cNvSpPr txBox="1"/>
          <p:nvPr/>
        </p:nvSpPr>
        <p:spPr>
          <a:xfrm>
            <a:off x="7479792" y="3547872"/>
            <a:ext cx="3931920" cy="548640"/>
          </a:xfrm>
          <a:prstGeom prst="rect">
            <a:avLst/>
          </a:prstGeom>
          <a:noFill/>
          <a:ln/>
        </p:spPr>
        <p:txBody>
          <a:bodyPr wrap="square" lIns="0" tIns="0" rIns="0" bIns="0" rtlCol="0" anchor="t"/>
          <a:lstStyle/>
          <a:p>
            <a:pPr indent="0" marL="0">
              <a:buNone/>
            </a:pPr>
            <a:r>
              <a:rPr lang="en-US" sz="1500" dirty="0">
                <a:solidFill>
                  <a:schemeClr val="tx1"/>
                </a:solidFill>
              </a:rPr>
              <a:t>Later never comes. By evening the details are forgotten.</a:t>
            </a:r>
            <a:endParaRPr lang="en-US" sz="1500" dirty="0"/>
          </a:p>
        </p:txBody>
      </p:sp>
      <p:sp>
        <p:nvSpPr>
          <p:cNvPr id="16" name="card-23"/>
          <p:cNvSpPr/>
          <p:nvPr/>
        </p:nvSpPr>
        <p:spPr>
          <a:xfrm>
            <a:off x="548640" y="4343400"/>
            <a:ext cx="5394960" cy="1508760"/>
          </a:xfrm>
          <a:prstGeom prst="roundRect">
            <a:avLst>
              <a:gd name="adj" fmla="val 7273"/>
            </a:avLst>
          </a:prstGeom>
          <a:solidFill>
            <a:schemeClr val="bg2"/>
          </a:solidFill>
          <a:ln w="12700">
            <a:solidFill>
              <a:schemeClr val="bg2"/>
            </a:solidFill>
            <a:prstDash val="solid"/>
          </a:ln>
        </p:spPr>
      </p:sp>
      <p:sp>
        <p:nvSpPr>
          <p:cNvPr id="17" name="badge-24"/>
          <p:cNvSpPr/>
          <p:nvPr/>
        </p:nvSpPr>
        <p:spPr>
          <a:xfrm>
            <a:off x="822960" y="4727448"/>
            <a:ext cx="731520" cy="731520"/>
          </a:xfrm>
          <a:prstGeom prst="ellipse">
            <a:avLst/>
          </a:prstGeom>
          <a:solidFill>
            <a:srgbClr val="163D73"/>
          </a:solidFill>
          <a:ln w="12700">
            <a:solidFill>
              <a:srgbClr val="163D73"/>
            </a:solidFill>
            <a:prstDash val="solid"/>
          </a:ln>
        </p:spPr>
      </p:sp>
      <p:pic>
        <p:nvPicPr>
          <p:cNvPr id="18" name="icon-25" descr="ExchangeAlt icon">    </p:cNvPr>
          <p:cNvPicPr>
            <a:picLocks noChangeAspect="1"/>
          </p:cNvPicPr>
          <p:nvPr/>
        </p:nvPicPr>
        <p:blipFill>
          <a:blip r:embed="rId3"/>
          <a:stretch>
            <a:fillRect/>
          </a:stretch>
        </p:blipFill>
        <p:spPr>
          <a:xfrm>
            <a:off x="983894" y="4888382"/>
            <a:ext cx="409651" cy="409651"/>
          </a:xfrm>
          <a:prstGeom prst="rect">
            <a:avLst/>
          </a:prstGeom>
        </p:spPr>
      </p:pic>
      <p:sp>
        <p:nvSpPr>
          <p:cNvPr id="19" name="text-26"/>
          <p:cNvSpPr txBox="1"/>
          <p:nvPr/>
        </p:nvSpPr>
        <p:spPr>
          <a:xfrm>
            <a:off x="1783080" y="4526280"/>
            <a:ext cx="3931920" cy="685800"/>
          </a:xfrm>
          <a:prstGeom prst="rect">
            <a:avLst/>
          </a:prstGeom>
          <a:noFill/>
          <a:ln/>
        </p:spPr>
        <p:txBody>
          <a:bodyPr wrap="square" lIns="0" tIns="0" rIns="0" bIns="0" rtlCol="0" anchor="t"/>
          <a:lstStyle/>
          <a:p>
            <a:pPr indent="0" marL="0">
              <a:buNone/>
            </a:pPr>
            <a:r>
              <a:rPr lang="en-US" sz="1700" b="1" i="1" dirty="0">
                <a:solidFill>
                  <a:schemeClr val="tx2"/>
                </a:solidFill>
              </a:rPr>
              <a:t>"I took ₹2,000 from the ATM."</a:t>
            </a:r>
            <a:endParaRPr lang="en-US" sz="1700" dirty="0"/>
          </a:p>
        </p:txBody>
      </p:sp>
      <p:sp>
        <p:nvSpPr>
          <p:cNvPr id="20" name="text-27"/>
          <p:cNvSpPr txBox="1"/>
          <p:nvPr/>
        </p:nvSpPr>
        <p:spPr>
          <a:xfrm>
            <a:off x="1783080" y="5239512"/>
            <a:ext cx="3931920" cy="548640"/>
          </a:xfrm>
          <a:prstGeom prst="rect">
            <a:avLst/>
          </a:prstGeom>
          <a:noFill/>
          <a:ln/>
        </p:spPr>
        <p:txBody>
          <a:bodyPr wrap="square" lIns="0" tIns="0" rIns="0" bIns="0" rtlCol="0" anchor="t"/>
          <a:lstStyle/>
          <a:p>
            <a:pPr indent="0" marL="0">
              <a:buNone/>
            </a:pPr>
            <a:r>
              <a:rPr lang="en-US" sz="1500" dirty="0">
                <a:solidFill>
                  <a:schemeClr val="tx1"/>
                </a:solidFill>
              </a:rPr>
              <a:t>It looks like spending, so cash and bank totals stop matching.</a:t>
            </a:r>
            <a:endParaRPr lang="en-US" sz="1500" dirty="0"/>
          </a:p>
        </p:txBody>
      </p:sp>
      <p:sp>
        <p:nvSpPr>
          <p:cNvPr id="21" name="card-28"/>
          <p:cNvSpPr/>
          <p:nvPr/>
        </p:nvSpPr>
        <p:spPr>
          <a:xfrm>
            <a:off x="6245352" y="4343400"/>
            <a:ext cx="5394960" cy="1508760"/>
          </a:xfrm>
          <a:prstGeom prst="roundRect">
            <a:avLst>
              <a:gd name="adj" fmla="val 7273"/>
            </a:avLst>
          </a:prstGeom>
          <a:solidFill>
            <a:schemeClr val="bg2"/>
          </a:solidFill>
          <a:ln w="12700">
            <a:solidFill>
              <a:schemeClr val="bg2"/>
            </a:solidFill>
            <a:prstDash val="solid"/>
          </a:ln>
        </p:spPr>
      </p:sp>
      <p:sp>
        <p:nvSpPr>
          <p:cNvPr id="22" name="badge-29"/>
          <p:cNvSpPr/>
          <p:nvPr/>
        </p:nvSpPr>
        <p:spPr>
          <a:xfrm>
            <a:off x="6519672" y="4727448"/>
            <a:ext cx="731520" cy="731520"/>
          </a:xfrm>
          <a:prstGeom prst="ellipse">
            <a:avLst/>
          </a:prstGeom>
          <a:solidFill>
            <a:srgbClr val="2E6FD1"/>
          </a:solidFill>
          <a:ln w="12700">
            <a:solidFill>
              <a:srgbClr val="2E6FD1"/>
            </a:solidFill>
            <a:prstDash val="solid"/>
          </a:ln>
        </p:spPr>
      </p:sp>
      <p:pic>
        <p:nvPicPr>
          <p:cNvPr id="23" name="icon-30" descr="Bell icon">    </p:cNvPr>
          <p:cNvPicPr>
            <a:picLocks noChangeAspect="1"/>
          </p:cNvPicPr>
          <p:nvPr/>
        </p:nvPicPr>
        <p:blipFill>
          <a:blip r:embed="rId4"/>
          <a:stretch>
            <a:fillRect/>
          </a:stretch>
        </p:blipFill>
        <p:spPr>
          <a:xfrm>
            <a:off x="6680606" y="4888382"/>
            <a:ext cx="409651" cy="409651"/>
          </a:xfrm>
          <a:prstGeom prst="rect">
            <a:avLst/>
          </a:prstGeom>
        </p:spPr>
      </p:pic>
      <p:sp>
        <p:nvSpPr>
          <p:cNvPr id="24" name="text-31"/>
          <p:cNvSpPr txBox="1"/>
          <p:nvPr/>
        </p:nvSpPr>
        <p:spPr>
          <a:xfrm>
            <a:off x="7479792" y="4526280"/>
            <a:ext cx="3931920" cy="685800"/>
          </a:xfrm>
          <a:prstGeom prst="rect">
            <a:avLst/>
          </a:prstGeom>
          <a:noFill/>
          <a:ln/>
        </p:spPr>
        <p:txBody>
          <a:bodyPr wrap="square" lIns="0" tIns="0" rIns="0" bIns="0" rtlCol="0" anchor="t"/>
          <a:lstStyle/>
          <a:p>
            <a:pPr indent="0" marL="0">
              <a:buNone/>
            </a:pPr>
            <a:r>
              <a:rPr lang="en-US" sz="1700" b="1" i="1" dirty="0">
                <a:solidFill>
                  <a:schemeClr val="tx2"/>
                </a:solidFill>
              </a:rPr>
              <a:t>"I checked my budget after the month ended."</a:t>
            </a:r>
            <a:endParaRPr lang="en-US" sz="1700" dirty="0"/>
          </a:p>
        </p:txBody>
      </p:sp>
      <p:sp>
        <p:nvSpPr>
          <p:cNvPr id="25" name="text-32"/>
          <p:cNvSpPr txBox="1"/>
          <p:nvPr/>
        </p:nvSpPr>
        <p:spPr>
          <a:xfrm>
            <a:off x="7479792" y="5239512"/>
            <a:ext cx="3931920" cy="548640"/>
          </a:xfrm>
          <a:prstGeom prst="rect">
            <a:avLst/>
          </a:prstGeom>
          <a:noFill/>
          <a:ln/>
        </p:spPr>
        <p:txBody>
          <a:bodyPr wrap="square" lIns="0" tIns="0" rIns="0" bIns="0" rtlCol="0" anchor="t"/>
          <a:lstStyle/>
          <a:p>
            <a:pPr indent="0" marL="0">
              <a:buNone/>
            </a:pPr>
            <a:r>
              <a:rPr lang="en-US" sz="1500" dirty="0">
                <a:solidFill>
                  <a:schemeClr val="tx1"/>
                </a:solidFill>
              </a:rPr>
              <a:t>Overspending is found when it is too late to fix.</a:t>
            </a:r>
            <a:endParaRPr lang="en-US" sz="1500" dirty="0"/>
          </a:p>
        </p:txBody>
      </p:sp>
      <p:sp>
        <p:nvSpPr>
          <p:cNvPr id="26" name="text-33"/>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500" b="1" dirty="0">
                <a:solidFill>
                  <a:schemeClr val="accent1"/>
                </a:solidFill>
              </a:rPr>
              <a:t>Plus: bank statements arrive as PDFs with hundreds of rows that nobody wants to retype.</a:t>
            </a:r>
            <a:endParaRPr lang="en-US" sz="1500" dirty="0"/>
          </a:p>
        </p:txBody>
      </p:sp>
      <p:sp>
        <p:nvSpPr>
          <p:cNvPr id="25" name="Slide Number Placeholder 0"/>
          <p:cNvSpPr>
            <a:spLocks noGrp="1"/>
          </p:cNvSpPr>
          <p:nvPr>
            <p:ph type="sldNum" sz="quarter" idx="4294967295"/>
          </p:nvPr>
        </p:nvSpPr>
        <p:spPr>
          <a:xfrm>
            <a:off x="11064240" y="6446520"/>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800" b="1" dirty="0">
                <a:solidFill>
                  <a:schemeClr val="tx2"/>
                </a:solidFill>
              </a:rPr>
              <a:t>The idea and our approach</a:t>
            </a:r>
            <a:endParaRPr lang="en-US" sz="3800" dirty="0"/>
          </a:p>
        </p:txBody>
      </p:sp>
      <p:sp>
        <p:nvSpPr>
          <p:cNvPr id="4" name="text-34"/>
          <p:cNvSpPr txBox="1"/>
          <p:nvPr/>
        </p:nvSpPr>
        <p:spPr>
          <a:xfrm>
            <a:off x="548640" y="1188720"/>
            <a:ext cx="11064240" cy="457200"/>
          </a:xfrm>
          <a:prstGeom prst="rect">
            <a:avLst/>
          </a:prstGeom>
          <a:noFill/>
          <a:ln/>
        </p:spPr>
        <p:txBody>
          <a:bodyPr wrap="square" lIns="0" tIns="0" rIns="0" bIns="0" rtlCol="0" anchor="t"/>
          <a:lstStyle/>
          <a:p>
            <a:pPr indent="0" marL="0">
              <a:buNone/>
            </a:pPr>
            <a:r>
              <a:rPr lang="en-US" sz="2500" b="1" dirty="0">
                <a:solidFill>
                  <a:schemeClr val="accent3"/>
                </a:solidFill>
              </a:rPr>
              <a:t>Just chat: say it in plain words and the bot does the rest.</a:t>
            </a:r>
            <a:endParaRPr lang="en-US" sz="2500" dirty="0"/>
          </a:p>
        </p:txBody>
      </p:sp>
      <p:sp>
        <p:nvSpPr>
          <p:cNvPr id="5" name="text-35"/>
          <p:cNvSpPr txBox="1"/>
          <p:nvPr/>
        </p:nvSpPr>
        <p:spPr>
          <a:xfrm>
            <a:off x="548640" y="1691640"/>
            <a:ext cx="11064240" cy="365760"/>
          </a:xfrm>
          <a:prstGeom prst="rect">
            <a:avLst/>
          </a:prstGeom>
          <a:noFill/>
          <a:ln/>
        </p:spPr>
        <p:txBody>
          <a:bodyPr wrap="square" lIns="0" tIns="0" rIns="0" bIns="0" rtlCol="0" anchor="t"/>
          <a:lstStyle/>
          <a:p>
            <a:pPr indent="0" marL="0">
              <a:buNone/>
            </a:pPr>
            <a:r>
              <a:rPr lang="en-US" sz="1700" dirty="0">
                <a:solidFill>
                  <a:schemeClr val="tx1"/>
                </a:solidFill>
              </a:rPr>
              <a:t>It records the entry, updates your cash and bank balances and warns you about budgets.</a:t>
            </a:r>
            <a:endParaRPr lang="en-US" sz="1700" dirty="0"/>
          </a:p>
        </p:txBody>
      </p:sp>
      <p:sp>
        <p:nvSpPr>
          <p:cNvPr id="6" name="badge-36"/>
          <p:cNvSpPr/>
          <p:nvPr/>
        </p:nvSpPr>
        <p:spPr>
          <a:xfrm>
            <a:off x="1737360" y="2240280"/>
            <a:ext cx="914400" cy="914400"/>
          </a:xfrm>
          <a:prstGeom prst="ellipse">
            <a:avLst/>
          </a:prstGeom>
          <a:solidFill>
            <a:srgbClr val="2E6FD1"/>
          </a:solidFill>
          <a:ln w="12700">
            <a:solidFill>
              <a:srgbClr val="2E6FD1"/>
            </a:solidFill>
            <a:prstDash val="solid"/>
          </a:ln>
        </p:spPr>
      </p:sp>
      <p:pic>
        <p:nvPicPr>
          <p:cNvPr id="7" name="icon-37" descr="Comments icon">    </p:cNvPr>
          <p:cNvPicPr>
            <a:picLocks noChangeAspect="1"/>
          </p:cNvPicPr>
          <p:nvPr/>
        </p:nvPicPr>
        <p:blipFill>
          <a:blip r:embed="rId1"/>
          <a:stretch>
            <a:fillRect/>
          </a:stretch>
        </p:blipFill>
        <p:spPr>
          <a:xfrm>
            <a:off x="1938528" y="2441448"/>
            <a:ext cx="512064" cy="512064"/>
          </a:xfrm>
          <a:prstGeom prst="rect">
            <a:avLst/>
          </a:prstGeom>
        </p:spPr>
      </p:pic>
      <p:sp>
        <p:nvSpPr>
          <p:cNvPr id="8" name="text-38"/>
          <p:cNvSpPr txBox="1"/>
          <p:nvPr/>
        </p:nvSpPr>
        <p:spPr>
          <a:xfrm>
            <a:off x="822960" y="3246120"/>
            <a:ext cx="2743200" cy="365760"/>
          </a:xfrm>
          <a:prstGeom prst="rect">
            <a:avLst/>
          </a:prstGeom>
          <a:noFill/>
          <a:ln/>
        </p:spPr>
        <p:txBody>
          <a:bodyPr wrap="square" lIns="0" tIns="0" rIns="0" bIns="0" rtlCol="0" anchor="t"/>
          <a:lstStyle/>
          <a:p>
            <a:pPr algn="ctr" indent="0" marL="0">
              <a:buNone/>
            </a:pPr>
            <a:r>
              <a:rPr lang="en-US" sz="2000" b="1" dirty="0">
                <a:solidFill>
                  <a:schemeClr val="tx2"/>
                </a:solidFill>
              </a:rPr>
              <a:t>You say it</a:t>
            </a:r>
            <a:endParaRPr lang="en-US" sz="2000" dirty="0"/>
          </a:p>
        </p:txBody>
      </p:sp>
      <p:sp>
        <p:nvSpPr>
          <p:cNvPr id="9" name="text-39"/>
          <p:cNvSpPr txBox="1"/>
          <p:nvPr/>
        </p:nvSpPr>
        <p:spPr>
          <a:xfrm>
            <a:off x="822960" y="3639312"/>
            <a:ext cx="2743200" cy="365760"/>
          </a:xfrm>
          <a:prstGeom prst="rect">
            <a:avLst/>
          </a:prstGeom>
          <a:noFill/>
          <a:ln/>
        </p:spPr>
        <p:txBody>
          <a:bodyPr wrap="square" lIns="0" tIns="0" rIns="0" bIns="0" rtlCol="0" anchor="t"/>
          <a:lstStyle/>
          <a:p>
            <a:pPr algn="ctr" indent="0" marL="0">
              <a:buNone/>
            </a:pPr>
            <a:r>
              <a:rPr lang="en-US" sz="1500" dirty="0">
                <a:solidFill>
                  <a:schemeClr val="tx1"/>
                </a:solidFill>
              </a:rPr>
              <a:t>"spent 300 on ice cream"</a:t>
            </a:r>
            <a:endParaRPr lang="en-US" sz="1500" dirty="0"/>
          </a:p>
        </p:txBody>
      </p:sp>
      <p:sp>
        <p:nvSpPr>
          <p:cNvPr id="10" name="arrow-40"/>
          <p:cNvSpPr/>
          <p:nvPr/>
        </p:nvSpPr>
        <p:spPr>
          <a:xfrm>
            <a:off x="3657600" y="2697480"/>
            <a:ext cx="914400" cy="0"/>
          </a:xfrm>
          <a:prstGeom prst="line">
            <a:avLst/>
          </a:prstGeom>
          <a:noFill/>
          <a:ln w="44450">
            <a:solidFill>
              <a:schemeClr val="accent2"/>
            </a:solidFill>
            <a:prstDash val="solid"/>
            <a:tailEnd type="triangle"/>
          </a:ln>
        </p:spPr>
      </p:sp>
      <p:sp>
        <p:nvSpPr>
          <p:cNvPr id="11" name="badge-41"/>
          <p:cNvSpPr/>
          <p:nvPr/>
        </p:nvSpPr>
        <p:spPr>
          <a:xfrm>
            <a:off x="5577840" y="2240280"/>
            <a:ext cx="914400" cy="914400"/>
          </a:xfrm>
          <a:prstGeom prst="ellipse">
            <a:avLst/>
          </a:prstGeom>
          <a:solidFill>
            <a:srgbClr val="163D73"/>
          </a:solidFill>
          <a:ln w="12700">
            <a:solidFill>
              <a:srgbClr val="163D73"/>
            </a:solidFill>
            <a:prstDash val="solid"/>
          </a:ln>
        </p:spPr>
      </p:sp>
      <p:pic>
        <p:nvPicPr>
          <p:cNvPr id="12" name="icon-42" descr="Brain icon">    </p:cNvPr>
          <p:cNvPicPr>
            <a:picLocks noChangeAspect="1"/>
          </p:cNvPicPr>
          <p:nvPr/>
        </p:nvPicPr>
        <p:blipFill>
          <a:blip r:embed="rId2"/>
          <a:stretch>
            <a:fillRect/>
          </a:stretch>
        </p:blipFill>
        <p:spPr>
          <a:xfrm>
            <a:off x="5779008" y="2441448"/>
            <a:ext cx="512064" cy="512064"/>
          </a:xfrm>
          <a:prstGeom prst="rect">
            <a:avLst/>
          </a:prstGeom>
        </p:spPr>
      </p:pic>
      <p:sp>
        <p:nvSpPr>
          <p:cNvPr id="13" name="text-43"/>
          <p:cNvSpPr txBox="1"/>
          <p:nvPr/>
        </p:nvSpPr>
        <p:spPr>
          <a:xfrm>
            <a:off x="4663440" y="3246120"/>
            <a:ext cx="2743200" cy="365760"/>
          </a:xfrm>
          <a:prstGeom prst="rect">
            <a:avLst/>
          </a:prstGeom>
          <a:noFill/>
          <a:ln/>
        </p:spPr>
        <p:txBody>
          <a:bodyPr wrap="square" lIns="0" tIns="0" rIns="0" bIns="0" rtlCol="0" anchor="t"/>
          <a:lstStyle/>
          <a:p>
            <a:pPr algn="ctr" indent="0" marL="0">
              <a:buNone/>
            </a:pPr>
            <a:r>
              <a:rPr lang="en-US" sz="2000" b="1" dirty="0">
                <a:solidFill>
                  <a:schemeClr val="tx2"/>
                </a:solidFill>
              </a:rPr>
              <a:t>AI understands</a:t>
            </a:r>
            <a:endParaRPr lang="en-US" sz="2000" dirty="0"/>
          </a:p>
        </p:txBody>
      </p:sp>
      <p:sp>
        <p:nvSpPr>
          <p:cNvPr id="14" name="text-44"/>
          <p:cNvSpPr txBox="1"/>
          <p:nvPr/>
        </p:nvSpPr>
        <p:spPr>
          <a:xfrm>
            <a:off x="4663440" y="3639312"/>
            <a:ext cx="2743200" cy="365760"/>
          </a:xfrm>
          <a:prstGeom prst="rect">
            <a:avLst/>
          </a:prstGeom>
          <a:noFill/>
          <a:ln/>
        </p:spPr>
        <p:txBody>
          <a:bodyPr wrap="square" lIns="0" tIns="0" rIns="0" bIns="0" rtlCol="0" anchor="t"/>
          <a:lstStyle/>
          <a:p>
            <a:pPr algn="ctr" indent="0" marL="0">
              <a:buNone/>
            </a:pPr>
            <a:r>
              <a:rPr lang="en-US" sz="1500" dirty="0">
                <a:solidFill>
                  <a:schemeClr val="tx1"/>
                </a:solidFill>
              </a:rPr>
              <a:t>Amount 300, category food</a:t>
            </a:r>
            <a:endParaRPr lang="en-US" sz="1500" dirty="0"/>
          </a:p>
        </p:txBody>
      </p:sp>
      <p:sp>
        <p:nvSpPr>
          <p:cNvPr id="15" name="arrow-45"/>
          <p:cNvSpPr/>
          <p:nvPr/>
        </p:nvSpPr>
        <p:spPr>
          <a:xfrm>
            <a:off x="7498080" y="2697480"/>
            <a:ext cx="914400" cy="0"/>
          </a:xfrm>
          <a:prstGeom prst="line">
            <a:avLst/>
          </a:prstGeom>
          <a:noFill/>
          <a:ln w="44450">
            <a:solidFill>
              <a:schemeClr val="accent2"/>
            </a:solidFill>
            <a:prstDash val="solid"/>
            <a:tailEnd type="triangle"/>
          </a:ln>
        </p:spPr>
      </p:sp>
      <p:sp>
        <p:nvSpPr>
          <p:cNvPr id="16" name="badge-46"/>
          <p:cNvSpPr/>
          <p:nvPr/>
        </p:nvSpPr>
        <p:spPr>
          <a:xfrm>
            <a:off x="9418320" y="2240280"/>
            <a:ext cx="914400" cy="914400"/>
          </a:xfrm>
          <a:prstGeom prst="ellipse">
            <a:avLst/>
          </a:prstGeom>
          <a:solidFill>
            <a:srgbClr val="D9480F"/>
          </a:solidFill>
          <a:ln w="12700">
            <a:solidFill>
              <a:srgbClr val="D9480F"/>
            </a:solidFill>
            <a:prstDash val="solid"/>
          </a:ln>
        </p:spPr>
      </p:sp>
      <p:pic>
        <p:nvPicPr>
          <p:cNvPr id="17" name="icon-47" descr="Wallet icon">    </p:cNvPr>
          <p:cNvPicPr>
            <a:picLocks noChangeAspect="1"/>
          </p:cNvPicPr>
          <p:nvPr/>
        </p:nvPicPr>
        <p:blipFill>
          <a:blip r:embed="rId3"/>
          <a:stretch>
            <a:fillRect/>
          </a:stretch>
        </p:blipFill>
        <p:spPr>
          <a:xfrm>
            <a:off x="9619488" y="2441448"/>
            <a:ext cx="512064" cy="512064"/>
          </a:xfrm>
          <a:prstGeom prst="rect">
            <a:avLst/>
          </a:prstGeom>
        </p:spPr>
      </p:pic>
      <p:sp>
        <p:nvSpPr>
          <p:cNvPr id="18" name="text-48"/>
          <p:cNvSpPr txBox="1"/>
          <p:nvPr/>
        </p:nvSpPr>
        <p:spPr>
          <a:xfrm>
            <a:off x="8503920" y="3246120"/>
            <a:ext cx="2743200" cy="365760"/>
          </a:xfrm>
          <a:prstGeom prst="rect">
            <a:avLst/>
          </a:prstGeom>
          <a:noFill/>
          <a:ln/>
        </p:spPr>
        <p:txBody>
          <a:bodyPr wrap="square" lIns="0" tIns="0" rIns="0" bIns="0" rtlCol="0" anchor="t"/>
          <a:lstStyle/>
          <a:p>
            <a:pPr algn="ctr" indent="0" marL="0">
              <a:buNone/>
            </a:pPr>
            <a:r>
              <a:rPr lang="en-US" sz="2000" b="1" dirty="0">
                <a:solidFill>
                  <a:schemeClr val="tx2"/>
                </a:solidFill>
              </a:rPr>
              <a:t>Balances update</a:t>
            </a:r>
            <a:endParaRPr lang="en-US" sz="2000" dirty="0"/>
          </a:p>
        </p:txBody>
      </p:sp>
      <p:sp>
        <p:nvSpPr>
          <p:cNvPr id="19" name="text-49"/>
          <p:cNvSpPr txBox="1"/>
          <p:nvPr/>
        </p:nvSpPr>
        <p:spPr>
          <a:xfrm>
            <a:off x="8503920" y="3639312"/>
            <a:ext cx="2743200" cy="365760"/>
          </a:xfrm>
          <a:prstGeom prst="rect">
            <a:avLst/>
          </a:prstGeom>
          <a:noFill/>
          <a:ln/>
        </p:spPr>
        <p:txBody>
          <a:bodyPr wrap="square" lIns="0" tIns="0" rIns="0" bIns="0" rtlCol="0" anchor="t"/>
          <a:lstStyle/>
          <a:p>
            <a:pPr algn="ctr" indent="0" marL="0">
              <a:buNone/>
            </a:pPr>
            <a:r>
              <a:rPr lang="en-US" sz="1500" dirty="0">
                <a:solidFill>
                  <a:schemeClr val="tx1"/>
                </a:solidFill>
              </a:rPr>
              <a:t>Cash 1,000 becomes 700</a:t>
            </a:r>
            <a:endParaRPr lang="en-US" sz="1500" dirty="0"/>
          </a:p>
        </p:txBody>
      </p:sp>
      <p:sp>
        <p:nvSpPr>
          <p:cNvPr id="20" name="text-50"/>
          <p:cNvSpPr txBox="1"/>
          <p:nvPr/>
        </p:nvSpPr>
        <p:spPr>
          <a:xfrm>
            <a:off x="548640" y="4251960"/>
            <a:ext cx="7315200" cy="365760"/>
          </a:xfrm>
          <a:prstGeom prst="rect">
            <a:avLst/>
          </a:prstGeom>
          <a:noFill/>
          <a:ln/>
        </p:spPr>
        <p:txBody>
          <a:bodyPr wrap="square" lIns="0" tIns="0" rIns="0" bIns="0" rtlCol="0" anchor="t"/>
          <a:lstStyle/>
          <a:p>
            <a:pPr indent="0" marL="0">
              <a:buNone/>
            </a:pPr>
            <a:r>
              <a:rPr lang="en-US" sz="1900" b="1" dirty="0">
                <a:solidFill>
                  <a:schemeClr val="accent1"/>
                </a:solidFill>
              </a:rPr>
              <a:t>How we make it work</a:t>
            </a:r>
            <a:endParaRPr lang="en-US" sz="1900" dirty="0"/>
          </a:p>
        </p:txBody>
      </p:sp>
      <p:sp>
        <p:nvSpPr>
          <p:cNvPr id="21" name="card-51"/>
          <p:cNvSpPr/>
          <p:nvPr/>
        </p:nvSpPr>
        <p:spPr>
          <a:xfrm>
            <a:off x="548640" y="4709160"/>
            <a:ext cx="2606040" cy="1600200"/>
          </a:xfrm>
          <a:prstGeom prst="roundRect">
            <a:avLst>
              <a:gd name="adj" fmla="val 6857"/>
            </a:avLst>
          </a:prstGeom>
          <a:solidFill>
            <a:schemeClr val="bg2"/>
          </a:solidFill>
          <a:ln w="12700">
            <a:solidFill>
              <a:schemeClr val="bg2"/>
            </a:solidFill>
            <a:prstDash val="solid"/>
          </a:ln>
        </p:spPr>
      </p:sp>
      <p:sp>
        <p:nvSpPr>
          <p:cNvPr id="22" name="badge-52"/>
          <p:cNvSpPr/>
          <p:nvPr/>
        </p:nvSpPr>
        <p:spPr>
          <a:xfrm>
            <a:off x="731520" y="4892040"/>
            <a:ext cx="548640" cy="548640"/>
          </a:xfrm>
          <a:prstGeom prst="ellipse">
            <a:avLst/>
          </a:prstGeom>
          <a:solidFill>
            <a:srgbClr val="2E6FD1"/>
          </a:solidFill>
          <a:ln w="12700">
            <a:solidFill>
              <a:srgbClr val="2E6FD1"/>
            </a:solidFill>
            <a:prstDash val="solid"/>
          </a:ln>
        </p:spPr>
      </p:sp>
      <p:pic>
        <p:nvPicPr>
          <p:cNvPr id="23" name="icon-53" descr="TelegramPlane icon">    </p:cNvPr>
          <p:cNvPicPr>
            <a:picLocks noChangeAspect="1"/>
          </p:cNvPicPr>
          <p:nvPr/>
        </p:nvPicPr>
        <p:blipFill>
          <a:blip r:embed="rId4"/>
          <a:stretch>
            <a:fillRect/>
          </a:stretch>
        </p:blipFill>
        <p:spPr>
          <a:xfrm>
            <a:off x="852221" y="5012741"/>
            <a:ext cx="307238" cy="307238"/>
          </a:xfrm>
          <a:prstGeom prst="rect">
            <a:avLst/>
          </a:prstGeom>
        </p:spPr>
      </p:pic>
      <p:sp>
        <p:nvSpPr>
          <p:cNvPr id="24" name="text-54"/>
          <p:cNvSpPr txBox="1"/>
          <p:nvPr/>
        </p:nvSpPr>
        <p:spPr>
          <a:xfrm>
            <a:off x="1417320" y="4892040"/>
            <a:ext cx="1645920" cy="548640"/>
          </a:xfrm>
          <a:prstGeom prst="rect">
            <a:avLst/>
          </a:prstGeom>
          <a:noFill/>
          <a:ln/>
        </p:spPr>
        <p:txBody>
          <a:bodyPr wrap="square" lIns="0" tIns="0" rIns="0" bIns="0" rtlCol="0" anchor="ctr"/>
          <a:lstStyle/>
          <a:p>
            <a:pPr indent="0" marL="0">
              <a:buNone/>
            </a:pPr>
            <a:r>
              <a:rPr lang="en-US" sz="1600" b="1" dirty="0">
                <a:solidFill>
                  <a:schemeClr val="tx2"/>
                </a:solidFill>
              </a:rPr>
              <a:t>Telegram is the interface</a:t>
            </a:r>
            <a:endParaRPr lang="en-US" sz="1600" dirty="0"/>
          </a:p>
        </p:txBody>
      </p:sp>
      <p:sp>
        <p:nvSpPr>
          <p:cNvPr id="25" name="text-55"/>
          <p:cNvSpPr txBox="1"/>
          <p:nvPr/>
        </p:nvSpPr>
        <p:spPr>
          <a:xfrm>
            <a:off x="731520" y="5577840"/>
            <a:ext cx="2286000" cy="685800"/>
          </a:xfrm>
          <a:prstGeom prst="rect">
            <a:avLst/>
          </a:prstGeom>
          <a:noFill/>
          <a:ln/>
        </p:spPr>
        <p:txBody>
          <a:bodyPr wrap="square" lIns="0" tIns="0" rIns="0" bIns="0" rtlCol="0" anchor="t"/>
          <a:lstStyle/>
          <a:p>
            <a:pPr indent="0" marL="0">
              <a:buNone/>
            </a:pPr>
            <a:r>
              <a:rPr lang="en-US" sz="1400" dirty="0">
                <a:solidFill>
                  <a:schemeClr val="tx1"/>
                </a:solidFill>
              </a:rPr>
              <a:t>Nothing new to install. Chat, tap buttons, or send a PDF.</a:t>
            </a:r>
            <a:endParaRPr lang="en-US" sz="1400" dirty="0"/>
          </a:p>
        </p:txBody>
      </p:sp>
      <p:sp>
        <p:nvSpPr>
          <p:cNvPr id="26" name="card-56"/>
          <p:cNvSpPr/>
          <p:nvPr/>
        </p:nvSpPr>
        <p:spPr>
          <a:xfrm>
            <a:off x="3374136" y="4709160"/>
            <a:ext cx="2606040" cy="1600200"/>
          </a:xfrm>
          <a:prstGeom prst="roundRect">
            <a:avLst>
              <a:gd name="adj" fmla="val 6857"/>
            </a:avLst>
          </a:prstGeom>
          <a:solidFill>
            <a:schemeClr val="bg2"/>
          </a:solidFill>
          <a:ln w="12700">
            <a:solidFill>
              <a:schemeClr val="bg2"/>
            </a:solidFill>
            <a:prstDash val="solid"/>
          </a:ln>
        </p:spPr>
      </p:sp>
      <p:sp>
        <p:nvSpPr>
          <p:cNvPr id="27" name="badge-57"/>
          <p:cNvSpPr/>
          <p:nvPr/>
        </p:nvSpPr>
        <p:spPr>
          <a:xfrm>
            <a:off x="3557016" y="4892040"/>
            <a:ext cx="548640" cy="548640"/>
          </a:xfrm>
          <a:prstGeom prst="ellipse">
            <a:avLst/>
          </a:prstGeom>
          <a:solidFill>
            <a:srgbClr val="163D73"/>
          </a:solidFill>
          <a:ln w="12700">
            <a:solidFill>
              <a:srgbClr val="163D73"/>
            </a:solidFill>
            <a:prstDash val="solid"/>
          </a:ln>
        </p:spPr>
      </p:sp>
      <p:pic>
        <p:nvPicPr>
          <p:cNvPr id="28" name="icon-58" descr="Brain icon">    </p:cNvPr>
          <p:cNvPicPr>
            <a:picLocks noChangeAspect="1"/>
          </p:cNvPicPr>
          <p:nvPr/>
        </p:nvPicPr>
        <p:blipFill>
          <a:blip r:embed="rId5"/>
          <a:stretch>
            <a:fillRect/>
          </a:stretch>
        </p:blipFill>
        <p:spPr>
          <a:xfrm>
            <a:off x="3677717" y="5012741"/>
            <a:ext cx="307238" cy="307238"/>
          </a:xfrm>
          <a:prstGeom prst="rect">
            <a:avLst/>
          </a:prstGeom>
        </p:spPr>
      </p:pic>
      <p:sp>
        <p:nvSpPr>
          <p:cNvPr id="29" name="text-59"/>
          <p:cNvSpPr txBox="1"/>
          <p:nvPr/>
        </p:nvSpPr>
        <p:spPr>
          <a:xfrm>
            <a:off x="4242816" y="4892040"/>
            <a:ext cx="1645920" cy="548640"/>
          </a:xfrm>
          <a:prstGeom prst="rect">
            <a:avLst/>
          </a:prstGeom>
          <a:noFill/>
          <a:ln/>
        </p:spPr>
        <p:txBody>
          <a:bodyPr wrap="square" lIns="0" tIns="0" rIns="0" bIns="0" rtlCol="0" anchor="ctr"/>
          <a:lstStyle/>
          <a:p>
            <a:pPr indent="0" marL="0">
              <a:buNone/>
            </a:pPr>
            <a:r>
              <a:rPr lang="en-US" sz="1600" b="1" dirty="0">
                <a:solidFill>
                  <a:schemeClr val="tx2"/>
                </a:solidFill>
              </a:rPr>
              <a:t>AI understands the sentence</a:t>
            </a:r>
            <a:endParaRPr lang="en-US" sz="1600" dirty="0"/>
          </a:p>
        </p:txBody>
      </p:sp>
      <p:sp>
        <p:nvSpPr>
          <p:cNvPr id="30" name="text-60"/>
          <p:cNvSpPr txBox="1"/>
          <p:nvPr/>
        </p:nvSpPr>
        <p:spPr>
          <a:xfrm>
            <a:off x="3557016" y="5577840"/>
            <a:ext cx="2286000" cy="685800"/>
          </a:xfrm>
          <a:prstGeom prst="rect">
            <a:avLst/>
          </a:prstGeom>
          <a:noFill/>
          <a:ln/>
        </p:spPr>
        <p:txBody>
          <a:bodyPr wrap="square" lIns="0" tIns="0" rIns="0" bIns="0" rtlCol="0" anchor="t"/>
          <a:lstStyle/>
          <a:p>
            <a:pPr indent="0" marL="0">
              <a:buNone/>
            </a:pPr>
            <a:r>
              <a:rPr lang="en-US" sz="1400" dirty="0">
                <a:solidFill>
                  <a:schemeClr val="tx1"/>
                </a:solidFill>
              </a:rPr>
              <a:t>An LLM reads what you wrote and decides what to do.</a:t>
            </a:r>
            <a:endParaRPr lang="en-US" sz="1400" dirty="0"/>
          </a:p>
        </p:txBody>
      </p:sp>
      <p:sp>
        <p:nvSpPr>
          <p:cNvPr id="31" name="card-61"/>
          <p:cNvSpPr/>
          <p:nvPr/>
        </p:nvSpPr>
        <p:spPr>
          <a:xfrm>
            <a:off x="6199632" y="4709160"/>
            <a:ext cx="2606040" cy="1600200"/>
          </a:xfrm>
          <a:prstGeom prst="roundRect">
            <a:avLst>
              <a:gd name="adj" fmla="val 6857"/>
            </a:avLst>
          </a:prstGeom>
          <a:solidFill>
            <a:schemeClr val="bg2"/>
          </a:solidFill>
          <a:ln w="12700">
            <a:solidFill>
              <a:schemeClr val="bg2"/>
            </a:solidFill>
            <a:prstDash val="solid"/>
          </a:ln>
        </p:spPr>
      </p:sp>
      <p:sp>
        <p:nvSpPr>
          <p:cNvPr id="32" name="badge-62"/>
          <p:cNvSpPr/>
          <p:nvPr/>
        </p:nvSpPr>
        <p:spPr>
          <a:xfrm>
            <a:off x="6382512" y="4892040"/>
            <a:ext cx="548640" cy="548640"/>
          </a:xfrm>
          <a:prstGeom prst="ellipse">
            <a:avLst/>
          </a:prstGeom>
          <a:solidFill>
            <a:srgbClr val="1F5FA8"/>
          </a:solidFill>
          <a:ln w="12700">
            <a:solidFill>
              <a:srgbClr val="1F5FA8"/>
            </a:solidFill>
            <a:prstDash val="solid"/>
          </a:ln>
        </p:spPr>
      </p:sp>
      <p:pic>
        <p:nvPicPr>
          <p:cNvPr id="33" name="icon-63" descr="Database icon">    </p:cNvPr>
          <p:cNvPicPr>
            <a:picLocks noChangeAspect="1"/>
          </p:cNvPicPr>
          <p:nvPr/>
        </p:nvPicPr>
        <p:blipFill>
          <a:blip r:embed="rId6"/>
          <a:stretch>
            <a:fillRect/>
          </a:stretch>
        </p:blipFill>
        <p:spPr>
          <a:xfrm>
            <a:off x="6503213" y="5012741"/>
            <a:ext cx="307238" cy="307238"/>
          </a:xfrm>
          <a:prstGeom prst="rect">
            <a:avLst/>
          </a:prstGeom>
        </p:spPr>
      </p:pic>
      <p:sp>
        <p:nvSpPr>
          <p:cNvPr id="34" name="text-64"/>
          <p:cNvSpPr txBox="1"/>
          <p:nvPr/>
        </p:nvSpPr>
        <p:spPr>
          <a:xfrm>
            <a:off x="7068312" y="4892040"/>
            <a:ext cx="1645920" cy="548640"/>
          </a:xfrm>
          <a:prstGeom prst="rect">
            <a:avLst/>
          </a:prstGeom>
          <a:noFill/>
          <a:ln/>
        </p:spPr>
        <p:txBody>
          <a:bodyPr wrap="square" lIns="0" tIns="0" rIns="0" bIns="0" rtlCol="0" anchor="ctr"/>
          <a:lstStyle/>
          <a:p>
            <a:pPr indent="0" marL="0">
              <a:buNone/>
            </a:pPr>
            <a:r>
              <a:rPr lang="en-US" sz="1600" b="1" dirty="0">
                <a:solidFill>
                  <a:schemeClr val="tx2"/>
                </a:solidFill>
              </a:rPr>
              <a:t>Code does the money</a:t>
            </a:r>
            <a:endParaRPr lang="en-US" sz="1600" dirty="0"/>
          </a:p>
        </p:txBody>
      </p:sp>
      <p:sp>
        <p:nvSpPr>
          <p:cNvPr id="35" name="text-65"/>
          <p:cNvSpPr txBox="1"/>
          <p:nvPr/>
        </p:nvSpPr>
        <p:spPr>
          <a:xfrm>
            <a:off x="6382512" y="5577840"/>
            <a:ext cx="2286000" cy="685800"/>
          </a:xfrm>
          <a:prstGeom prst="rect">
            <a:avLst/>
          </a:prstGeom>
          <a:noFill/>
          <a:ln/>
        </p:spPr>
        <p:txBody>
          <a:bodyPr wrap="square" lIns="0" tIns="0" rIns="0" bIns="0" rtlCol="0" anchor="t"/>
          <a:lstStyle/>
          <a:p>
            <a:pPr indent="0" marL="0">
              <a:buNone/>
            </a:pPr>
            <a:r>
              <a:rPr lang="en-US" sz="1400" dirty="0">
                <a:solidFill>
                  <a:schemeClr val="tx1"/>
                </a:solidFill>
              </a:rPr>
              <a:t>Balances live in PostgreSQL and are updated by code, never by the AI.</a:t>
            </a:r>
            <a:endParaRPr lang="en-US" sz="1400" dirty="0"/>
          </a:p>
        </p:txBody>
      </p:sp>
      <p:sp>
        <p:nvSpPr>
          <p:cNvPr id="36" name="card-66"/>
          <p:cNvSpPr/>
          <p:nvPr/>
        </p:nvSpPr>
        <p:spPr>
          <a:xfrm>
            <a:off x="9025128" y="4709160"/>
            <a:ext cx="2606040" cy="1600200"/>
          </a:xfrm>
          <a:prstGeom prst="roundRect">
            <a:avLst>
              <a:gd name="adj" fmla="val 6857"/>
            </a:avLst>
          </a:prstGeom>
          <a:solidFill>
            <a:schemeClr val="bg2"/>
          </a:solidFill>
          <a:ln w="12700">
            <a:solidFill>
              <a:schemeClr val="bg2"/>
            </a:solidFill>
            <a:prstDash val="solid"/>
          </a:ln>
        </p:spPr>
      </p:sp>
      <p:sp>
        <p:nvSpPr>
          <p:cNvPr id="37" name="badge-67"/>
          <p:cNvSpPr/>
          <p:nvPr/>
        </p:nvSpPr>
        <p:spPr>
          <a:xfrm>
            <a:off x="9208008" y="4892040"/>
            <a:ext cx="548640" cy="548640"/>
          </a:xfrm>
          <a:prstGeom prst="ellipse">
            <a:avLst/>
          </a:prstGeom>
          <a:solidFill>
            <a:srgbClr val="D9480F"/>
          </a:solidFill>
          <a:ln w="12700">
            <a:solidFill>
              <a:srgbClr val="D9480F"/>
            </a:solidFill>
            <a:prstDash val="solid"/>
          </a:ln>
        </p:spPr>
      </p:sp>
      <p:pic>
        <p:nvPicPr>
          <p:cNvPr id="38" name="icon-68" descr="HandPaper icon">    </p:cNvPr>
          <p:cNvPicPr>
            <a:picLocks noChangeAspect="1"/>
          </p:cNvPicPr>
          <p:nvPr/>
        </p:nvPicPr>
        <p:blipFill>
          <a:blip r:embed="rId7"/>
          <a:stretch>
            <a:fillRect/>
          </a:stretch>
        </p:blipFill>
        <p:spPr>
          <a:xfrm>
            <a:off x="9328709" y="5012741"/>
            <a:ext cx="307238" cy="307238"/>
          </a:xfrm>
          <a:prstGeom prst="rect">
            <a:avLst/>
          </a:prstGeom>
        </p:spPr>
      </p:pic>
      <p:sp>
        <p:nvSpPr>
          <p:cNvPr id="39" name="text-69"/>
          <p:cNvSpPr txBox="1"/>
          <p:nvPr/>
        </p:nvSpPr>
        <p:spPr>
          <a:xfrm>
            <a:off x="9893808" y="4892040"/>
            <a:ext cx="1645920" cy="548640"/>
          </a:xfrm>
          <a:prstGeom prst="rect">
            <a:avLst/>
          </a:prstGeom>
          <a:noFill/>
          <a:ln/>
        </p:spPr>
        <p:txBody>
          <a:bodyPr wrap="square" lIns="0" tIns="0" rIns="0" bIns="0" rtlCol="0" anchor="ctr"/>
          <a:lstStyle/>
          <a:p>
            <a:pPr indent="0" marL="0">
              <a:buNone/>
            </a:pPr>
            <a:r>
              <a:rPr lang="en-US" sz="1600" b="1" dirty="0">
                <a:solidFill>
                  <a:schemeClr val="tx2"/>
                </a:solidFill>
              </a:rPr>
              <a:t>Asks when unsure</a:t>
            </a:r>
            <a:endParaRPr lang="en-US" sz="1600" dirty="0"/>
          </a:p>
        </p:txBody>
      </p:sp>
      <p:sp>
        <p:nvSpPr>
          <p:cNvPr id="40" name="text-70"/>
          <p:cNvSpPr txBox="1"/>
          <p:nvPr/>
        </p:nvSpPr>
        <p:spPr>
          <a:xfrm>
            <a:off x="9208008" y="5577840"/>
            <a:ext cx="2286000" cy="685800"/>
          </a:xfrm>
          <a:prstGeom prst="rect">
            <a:avLst/>
          </a:prstGeom>
          <a:noFill/>
          <a:ln/>
        </p:spPr>
        <p:txBody>
          <a:bodyPr wrap="square" lIns="0" tIns="0" rIns="0" bIns="0" rtlCol="0" anchor="t"/>
          <a:lstStyle/>
          <a:p>
            <a:pPr indent="0" marL="0">
              <a:buNone/>
            </a:pPr>
            <a:r>
              <a:rPr lang="en-US" sz="1400" dirty="0">
                <a:solidFill>
                  <a:schemeClr val="tx1"/>
                </a:solidFill>
              </a:rPr>
              <a:t>No cash or bank in your message? It asks with two buttons.</a:t>
            </a:r>
            <a:endParaRPr lang="en-US" sz="1400" dirty="0"/>
          </a:p>
        </p:txBody>
      </p:sp>
      <p:sp>
        <p:nvSpPr>
          <p:cNvPr id="25" name="Slide Number Placeholder 0"/>
          <p:cNvSpPr>
            <a:spLocks noGrp="1"/>
          </p:cNvSpPr>
          <p:nvPr>
            <p:ph type="sldNum" sz="quarter" idx="4294967295"/>
          </p:nvPr>
        </p:nvSpPr>
        <p:spPr>
          <a:xfrm>
            <a:off x="11064240" y="6446520"/>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800" b="1" dirty="0">
                <a:solidFill>
                  <a:schemeClr val="tx2"/>
                </a:solidFill>
              </a:rPr>
              <a:t>What it can do</a:t>
            </a:r>
            <a:endParaRPr lang="en-US" sz="3800" dirty="0"/>
          </a:p>
        </p:txBody>
      </p:sp>
      <p:sp>
        <p:nvSpPr>
          <p:cNvPr id="4" name="card-71"/>
          <p:cNvSpPr/>
          <p:nvPr/>
        </p:nvSpPr>
        <p:spPr>
          <a:xfrm>
            <a:off x="548640" y="1371600"/>
            <a:ext cx="3520440" cy="2148840"/>
          </a:xfrm>
          <a:prstGeom prst="roundRect">
            <a:avLst>
              <a:gd name="adj" fmla="val 5106"/>
            </a:avLst>
          </a:prstGeom>
          <a:solidFill>
            <a:schemeClr val="bg2"/>
          </a:solidFill>
          <a:ln w="12700">
            <a:solidFill>
              <a:schemeClr val="bg2"/>
            </a:solidFill>
            <a:prstDash val="solid"/>
          </a:ln>
        </p:spPr>
      </p:sp>
      <p:sp>
        <p:nvSpPr>
          <p:cNvPr id="5" name="badge-72"/>
          <p:cNvSpPr/>
          <p:nvPr/>
        </p:nvSpPr>
        <p:spPr>
          <a:xfrm>
            <a:off x="822960" y="1645920"/>
            <a:ext cx="685800" cy="685800"/>
          </a:xfrm>
          <a:prstGeom prst="ellipse">
            <a:avLst/>
          </a:prstGeom>
          <a:solidFill>
            <a:srgbClr val="2E6FD1"/>
          </a:solidFill>
          <a:ln w="12700">
            <a:solidFill>
              <a:srgbClr val="2E6FD1"/>
            </a:solidFill>
            <a:prstDash val="solid"/>
          </a:ln>
        </p:spPr>
      </p:sp>
      <p:pic>
        <p:nvPicPr>
          <p:cNvPr id="6" name="icon-73" descr="Comments icon">    </p:cNvPr>
          <p:cNvPicPr>
            <a:picLocks noChangeAspect="1"/>
          </p:cNvPicPr>
          <p:nvPr/>
        </p:nvPicPr>
        <p:blipFill>
          <a:blip r:embed="rId1"/>
          <a:stretch>
            <a:fillRect/>
          </a:stretch>
        </p:blipFill>
        <p:spPr>
          <a:xfrm>
            <a:off x="973836" y="1796796"/>
            <a:ext cx="384048" cy="384048"/>
          </a:xfrm>
          <a:prstGeom prst="rect">
            <a:avLst/>
          </a:prstGeom>
        </p:spPr>
      </p:pic>
      <p:sp>
        <p:nvSpPr>
          <p:cNvPr id="7" name="text-74"/>
          <p:cNvSpPr txBox="1"/>
          <p:nvPr/>
        </p:nvSpPr>
        <p:spPr>
          <a:xfrm>
            <a:off x="1691640" y="1645920"/>
            <a:ext cx="2240280" cy="685800"/>
          </a:xfrm>
          <a:prstGeom prst="rect">
            <a:avLst/>
          </a:prstGeom>
          <a:noFill/>
          <a:ln/>
        </p:spPr>
        <p:txBody>
          <a:bodyPr wrap="square" lIns="0" tIns="0" rIns="0" bIns="0" rtlCol="0" anchor="ctr"/>
          <a:lstStyle/>
          <a:p>
            <a:pPr indent="0" marL="0">
              <a:buNone/>
            </a:pPr>
            <a:r>
              <a:rPr lang="en-US" sz="1900" b="1" dirty="0">
                <a:solidFill>
                  <a:schemeClr val="tx2"/>
                </a:solidFill>
              </a:rPr>
              <a:t>Record by chat</a:t>
            </a:r>
            <a:endParaRPr lang="en-US" sz="1900" dirty="0"/>
          </a:p>
        </p:txBody>
      </p:sp>
      <p:sp>
        <p:nvSpPr>
          <p:cNvPr id="8" name="text-75"/>
          <p:cNvSpPr txBox="1"/>
          <p:nvPr/>
        </p:nvSpPr>
        <p:spPr>
          <a:xfrm>
            <a:off x="822960" y="2468880"/>
            <a:ext cx="3017520" cy="960120"/>
          </a:xfrm>
          <a:prstGeom prst="rect">
            <a:avLst/>
          </a:prstGeom>
          <a:noFill/>
          <a:ln/>
        </p:spPr>
        <p:txBody>
          <a:bodyPr wrap="square" lIns="0" tIns="0" rIns="0" bIns="0" rtlCol="0" anchor="t"/>
          <a:lstStyle/>
          <a:p>
            <a:pPr indent="0" marL="0">
              <a:buNone/>
            </a:pPr>
            <a:r>
              <a:rPr lang="en-US" sz="1500" dirty="0">
                <a:solidFill>
                  <a:schemeClr val="tx1"/>
                </a:solidFill>
              </a:rPr>
              <a:t>Add expenses and income in plain sentences.</a:t>
            </a:r>
            <a:endParaRPr lang="en-US" sz="1500" dirty="0"/>
          </a:p>
        </p:txBody>
      </p:sp>
      <p:sp>
        <p:nvSpPr>
          <p:cNvPr id="9" name="card-76"/>
          <p:cNvSpPr/>
          <p:nvPr/>
        </p:nvSpPr>
        <p:spPr>
          <a:xfrm>
            <a:off x="4334256" y="1371600"/>
            <a:ext cx="3520440" cy="2148840"/>
          </a:xfrm>
          <a:prstGeom prst="roundRect">
            <a:avLst>
              <a:gd name="adj" fmla="val 5106"/>
            </a:avLst>
          </a:prstGeom>
          <a:solidFill>
            <a:schemeClr val="bg2"/>
          </a:solidFill>
          <a:ln w="12700">
            <a:solidFill>
              <a:schemeClr val="bg2"/>
            </a:solidFill>
            <a:prstDash val="solid"/>
          </a:ln>
        </p:spPr>
      </p:sp>
      <p:sp>
        <p:nvSpPr>
          <p:cNvPr id="10" name="badge-77"/>
          <p:cNvSpPr/>
          <p:nvPr/>
        </p:nvSpPr>
        <p:spPr>
          <a:xfrm>
            <a:off x="4608576" y="1645920"/>
            <a:ext cx="685800" cy="685800"/>
          </a:xfrm>
          <a:prstGeom prst="ellipse">
            <a:avLst/>
          </a:prstGeom>
          <a:solidFill>
            <a:srgbClr val="1F5FA8"/>
          </a:solidFill>
          <a:ln w="12700">
            <a:solidFill>
              <a:srgbClr val="1F5FA8"/>
            </a:solidFill>
            <a:prstDash val="solid"/>
          </a:ln>
        </p:spPr>
      </p:sp>
      <p:pic>
        <p:nvPicPr>
          <p:cNvPr id="11" name="icon-78" descr="ExchangeAlt icon">    </p:cNvPr>
          <p:cNvPicPr>
            <a:picLocks noChangeAspect="1"/>
          </p:cNvPicPr>
          <p:nvPr/>
        </p:nvPicPr>
        <p:blipFill>
          <a:blip r:embed="rId2"/>
          <a:stretch>
            <a:fillRect/>
          </a:stretch>
        </p:blipFill>
        <p:spPr>
          <a:xfrm>
            <a:off x="4759452" y="1796796"/>
            <a:ext cx="384048" cy="384048"/>
          </a:xfrm>
          <a:prstGeom prst="rect">
            <a:avLst/>
          </a:prstGeom>
        </p:spPr>
      </p:pic>
      <p:sp>
        <p:nvSpPr>
          <p:cNvPr id="12" name="text-79"/>
          <p:cNvSpPr txBox="1"/>
          <p:nvPr/>
        </p:nvSpPr>
        <p:spPr>
          <a:xfrm>
            <a:off x="5477256" y="1645920"/>
            <a:ext cx="2240280" cy="685800"/>
          </a:xfrm>
          <a:prstGeom prst="rect">
            <a:avLst/>
          </a:prstGeom>
          <a:noFill/>
          <a:ln/>
        </p:spPr>
        <p:txBody>
          <a:bodyPr wrap="square" lIns="0" tIns="0" rIns="0" bIns="0" rtlCol="0" anchor="ctr"/>
          <a:lstStyle/>
          <a:p>
            <a:pPr indent="0" marL="0">
              <a:buNone/>
            </a:pPr>
            <a:r>
              <a:rPr lang="en-US" sz="1900" b="1" dirty="0">
                <a:solidFill>
                  <a:schemeClr val="tx2"/>
                </a:solidFill>
              </a:rPr>
              <a:t>Cash and bank</a:t>
            </a:r>
            <a:endParaRPr lang="en-US" sz="1900" dirty="0"/>
          </a:p>
        </p:txBody>
      </p:sp>
      <p:sp>
        <p:nvSpPr>
          <p:cNvPr id="13" name="text-80"/>
          <p:cNvSpPr txBox="1"/>
          <p:nvPr/>
        </p:nvSpPr>
        <p:spPr>
          <a:xfrm>
            <a:off x="4608576" y="2468880"/>
            <a:ext cx="3017520" cy="960120"/>
          </a:xfrm>
          <a:prstGeom prst="rect">
            <a:avLst/>
          </a:prstGeom>
          <a:noFill/>
          <a:ln/>
        </p:spPr>
        <p:txBody>
          <a:bodyPr wrap="square" lIns="0" tIns="0" rIns="0" bIns="0" rtlCol="0" anchor="t"/>
          <a:lstStyle/>
          <a:p>
            <a:pPr indent="0" marL="0">
              <a:buNone/>
            </a:pPr>
            <a:r>
              <a:rPr lang="en-US" sz="1500" dirty="0">
                <a:solidFill>
                  <a:schemeClr val="tx1"/>
                </a:solidFill>
              </a:rPr>
              <a:t>Two accounts. Withdrawals and deposits move money between them.</a:t>
            </a:r>
            <a:endParaRPr lang="en-US" sz="1500" dirty="0"/>
          </a:p>
        </p:txBody>
      </p:sp>
      <p:sp>
        <p:nvSpPr>
          <p:cNvPr id="14" name="card-81"/>
          <p:cNvSpPr/>
          <p:nvPr/>
        </p:nvSpPr>
        <p:spPr>
          <a:xfrm>
            <a:off x="8119872" y="1371600"/>
            <a:ext cx="3520440" cy="2148840"/>
          </a:xfrm>
          <a:prstGeom prst="roundRect">
            <a:avLst>
              <a:gd name="adj" fmla="val 5106"/>
            </a:avLst>
          </a:prstGeom>
          <a:solidFill>
            <a:schemeClr val="bg2"/>
          </a:solidFill>
          <a:ln w="12700">
            <a:solidFill>
              <a:schemeClr val="bg2"/>
            </a:solidFill>
            <a:prstDash val="solid"/>
          </a:ln>
        </p:spPr>
      </p:sp>
      <p:sp>
        <p:nvSpPr>
          <p:cNvPr id="15" name="badge-82"/>
          <p:cNvSpPr/>
          <p:nvPr/>
        </p:nvSpPr>
        <p:spPr>
          <a:xfrm>
            <a:off x="8394192" y="1645920"/>
            <a:ext cx="685800" cy="685800"/>
          </a:xfrm>
          <a:prstGeom prst="ellipse">
            <a:avLst/>
          </a:prstGeom>
          <a:solidFill>
            <a:srgbClr val="D9480F"/>
          </a:solidFill>
          <a:ln w="12700">
            <a:solidFill>
              <a:srgbClr val="D9480F"/>
            </a:solidFill>
            <a:prstDash val="solid"/>
          </a:ln>
        </p:spPr>
      </p:sp>
      <p:pic>
        <p:nvPicPr>
          <p:cNvPr id="16" name="icon-83" descr="Bell icon">    </p:cNvPr>
          <p:cNvPicPr>
            <a:picLocks noChangeAspect="1"/>
          </p:cNvPicPr>
          <p:nvPr/>
        </p:nvPicPr>
        <p:blipFill>
          <a:blip r:embed="rId3"/>
          <a:stretch>
            <a:fillRect/>
          </a:stretch>
        </p:blipFill>
        <p:spPr>
          <a:xfrm>
            <a:off x="8545068" y="1796796"/>
            <a:ext cx="384048" cy="384048"/>
          </a:xfrm>
          <a:prstGeom prst="rect">
            <a:avLst/>
          </a:prstGeom>
        </p:spPr>
      </p:pic>
      <p:sp>
        <p:nvSpPr>
          <p:cNvPr id="17" name="text-84"/>
          <p:cNvSpPr txBox="1"/>
          <p:nvPr/>
        </p:nvSpPr>
        <p:spPr>
          <a:xfrm>
            <a:off x="9262872" y="1645920"/>
            <a:ext cx="2240280" cy="685800"/>
          </a:xfrm>
          <a:prstGeom prst="rect">
            <a:avLst/>
          </a:prstGeom>
          <a:noFill/>
          <a:ln/>
        </p:spPr>
        <p:txBody>
          <a:bodyPr wrap="square" lIns="0" tIns="0" rIns="0" bIns="0" rtlCol="0" anchor="ctr"/>
          <a:lstStyle/>
          <a:p>
            <a:pPr indent="0" marL="0">
              <a:buNone/>
            </a:pPr>
            <a:r>
              <a:rPr lang="en-US" sz="1900" b="1" dirty="0">
                <a:solidFill>
                  <a:schemeClr val="tx2"/>
                </a:solidFill>
              </a:rPr>
              <a:t>Budgets and alerts</a:t>
            </a:r>
            <a:endParaRPr lang="en-US" sz="1900" dirty="0"/>
          </a:p>
        </p:txBody>
      </p:sp>
      <p:sp>
        <p:nvSpPr>
          <p:cNvPr id="18" name="text-85"/>
          <p:cNvSpPr txBox="1"/>
          <p:nvPr/>
        </p:nvSpPr>
        <p:spPr>
          <a:xfrm>
            <a:off x="8394192" y="2468880"/>
            <a:ext cx="3017520" cy="960120"/>
          </a:xfrm>
          <a:prstGeom prst="rect">
            <a:avLst/>
          </a:prstGeom>
          <a:noFill/>
          <a:ln/>
        </p:spPr>
        <p:txBody>
          <a:bodyPr wrap="square" lIns="0" tIns="0" rIns="0" bIns="0" rtlCol="0" anchor="t"/>
          <a:lstStyle/>
          <a:p>
            <a:pPr indent="0" marL="0">
              <a:buNone/>
            </a:pPr>
            <a:r>
              <a:rPr lang="en-US" sz="1500" dirty="0">
                <a:solidFill>
                  <a:schemeClr val="tx1"/>
                </a:solidFill>
              </a:rPr>
              <a:t>Set a monthly limit per category. Get alerts at 50%, 80% and 100%.</a:t>
            </a:r>
            <a:endParaRPr lang="en-US" sz="1500" dirty="0"/>
          </a:p>
        </p:txBody>
      </p:sp>
      <p:sp>
        <p:nvSpPr>
          <p:cNvPr id="19" name="card-86"/>
          <p:cNvSpPr/>
          <p:nvPr/>
        </p:nvSpPr>
        <p:spPr>
          <a:xfrm>
            <a:off x="548640" y="3794760"/>
            <a:ext cx="3520440" cy="2148840"/>
          </a:xfrm>
          <a:prstGeom prst="roundRect">
            <a:avLst>
              <a:gd name="adj" fmla="val 5106"/>
            </a:avLst>
          </a:prstGeom>
          <a:solidFill>
            <a:schemeClr val="bg2"/>
          </a:solidFill>
          <a:ln w="12700">
            <a:solidFill>
              <a:schemeClr val="bg2"/>
            </a:solidFill>
            <a:prstDash val="solid"/>
          </a:ln>
        </p:spPr>
      </p:sp>
      <p:sp>
        <p:nvSpPr>
          <p:cNvPr id="20" name="badge-87"/>
          <p:cNvSpPr/>
          <p:nvPr/>
        </p:nvSpPr>
        <p:spPr>
          <a:xfrm>
            <a:off x="822960" y="4069080"/>
            <a:ext cx="685800" cy="685800"/>
          </a:xfrm>
          <a:prstGeom prst="ellipse">
            <a:avLst/>
          </a:prstGeom>
          <a:solidFill>
            <a:srgbClr val="163D73"/>
          </a:solidFill>
          <a:ln w="12700">
            <a:solidFill>
              <a:srgbClr val="163D73"/>
            </a:solidFill>
            <a:prstDash val="solid"/>
          </a:ln>
        </p:spPr>
      </p:sp>
      <p:pic>
        <p:nvPicPr>
          <p:cNvPr id="21" name="icon-88" descr="FilePdf icon">    </p:cNvPr>
          <p:cNvPicPr>
            <a:picLocks noChangeAspect="1"/>
          </p:cNvPicPr>
          <p:nvPr/>
        </p:nvPicPr>
        <p:blipFill>
          <a:blip r:embed="rId4"/>
          <a:stretch>
            <a:fillRect/>
          </a:stretch>
        </p:blipFill>
        <p:spPr>
          <a:xfrm>
            <a:off x="973836" y="4219956"/>
            <a:ext cx="384048" cy="384048"/>
          </a:xfrm>
          <a:prstGeom prst="rect">
            <a:avLst/>
          </a:prstGeom>
        </p:spPr>
      </p:pic>
      <p:sp>
        <p:nvSpPr>
          <p:cNvPr id="22" name="text-89"/>
          <p:cNvSpPr txBox="1"/>
          <p:nvPr/>
        </p:nvSpPr>
        <p:spPr>
          <a:xfrm>
            <a:off x="1691640" y="4069080"/>
            <a:ext cx="2240280" cy="685800"/>
          </a:xfrm>
          <a:prstGeom prst="rect">
            <a:avLst/>
          </a:prstGeom>
          <a:noFill/>
          <a:ln/>
        </p:spPr>
        <p:txBody>
          <a:bodyPr wrap="square" lIns="0" tIns="0" rIns="0" bIns="0" rtlCol="0" anchor="ctr"/>
          <a:lstStyle/>
          <a:p>
            <a:pPr indent="0" marL="0">
              <a:buNone/>
            </a:pPr>
            <a:r>
              <a:rPr lang="en-US" sz="1900" b="1" dirty="0">
                <a:solidFill>
                  <a:schemeClr val="tx2"/>
                </a:solidFill>
              </a:rPr>
              <a:t>Bank statement import</a:t>
            </a:r>
            <a:endParaRPr lang="en-US" sz="1900" dirty="0"/>
          </a:p>
        </p:txBody>
      </p:sp>
      <p:sp>
        <p:nvSpPr>
          <p:cNvPr id="23" name="text-90"/>
          <p:cNvSpPr txBox="1"/>
          <p:nvPr/>
        </p:nvSpPr>
        <p:spPr>
          <a:xfrm>
            <a:off x="822960" y="4892040"/>
            <a:ext cx="3017520" cy="960120"/>
          </a:xfrm>
          <a:prstGeom prst="rect">
            <a:avLst/>
          </a:prstGeom>
          <a:noFill/>
          <a:ln/>
        </p:spPr>
        <p:txBody>
          <a:bodyPr wrap="square" lIns="0" tIns="0" rIns="0" bIns="0" rtlCol="0" anchor="t"/>
          <a:lstStyle/>
          <a:p>
            <a:pPr indent="0" marL="0">
              <a:buNone/>
            </a:pPr>
            <a:r>
              <a:rPr lang="en-US" sz="1500" dirty="0">
                <a:solidFill>
                  <a:schemeClr val="tx1"/>
                </a:solidFill>
              </a:rPr>
              <a:t>Send a PDF. It reads every row, sorts it by category and adds it after you confirm.</a:t>
            </a:r>
            <a:endParaRPr lang="en-US" sz="1500" dirty="0"/>
          </a:p>
        </p:txBody>
      </p:sp>
      <p:sp>
        <p:nvSpPr>
          <p:cNvPr id="24" name="card-91"/>
          <p:cNvSpPr/>
          <p:nvPr/>
        </p:nvSpPr>
        <p:spPr>
          <a:xfrm>
            <a:off x="4334256" y="3794760"/>
            <a:ext cx="3520440" cy="2148840"/>
          </a:xfrm>
          <a:prstGeom prst="roundRect">
            <a:avLst>
              <a:gd name="adj" fmla="val 5106"/>
            </a:avLst>
          </a:prstGeom>
          <a:solidFill>
            <a:schemeClr val="bg2"/>
          </a:solidFill>
          <a:ln w="12700">
            <a:solidFill>
              <a:schemeClr val="bg2"/>
            </a:solidFill>
            <a:prstDash val="solid"/>
          </a:ln>
        </p:spPr>
      </p:sp>
      <p:sp>
        <p:nvSpPr>
          <p:cNvPr id="25" name="badge-92"/>
          <p:cNvSpPr/>
          <p:nvPr/>
        </p:nvSpPr>
        <p:spPr>
          <a:xfrm>
            <a:off x="4608576" y="4069080"/>
            <a:ext cx="685800" cy="685800"/>
          </a:xfrm>
          <a:prstGeom prst="ellipse">
            <a:avLst/>
          </a:prstGeom>
          <a:solidFill>
            <a:srgbClr val="1F5FA8"/>
          </a:solidFill>
          <a:ln w="12700">
            <a:solidFill>
              <a:srgbClr val="1F5FA8"/>
            </a:solidFill>
            <a:prstDash val="solid"/>
          </a:ln>
        </p:spPr>
      </p:sp>
      <p:pic>
        <p:nvPicPr>
          <p:cNvPr id="26" name="icon-93" descr="ChartLine icon">    </p:cNvPr>
          <p:cNvPicPr>
            <a:picLocks noChangeAspect="1"/>
          </p:cNvPicPr>
          <p:nvPr/>
        </p:nvPicPr>
        <p:blipFill>
          <a:blip r:embed="rId5"/>
          <a:stretch>
            <a:fillRect/>
          </a:stretch>
        </p:blipFill>
        <p:spPr>
          <a:xfrm>
            <a:off x="4759452" y="4219956"/>
            <a:ext cx="384048" cy="384048"/>
          </a:xfrm>
          <a:prstGeom prst="rect">
            <a:avLst/>
          </a:prstGeom>
        </p:spPr>
      </p:pic>
      <p:sp>
        <p:nvSpPr>
          <p:cNvPr id="27" name="text-94"/>
          <p:cNvSpPr txBox="1"/>
          <p:nvPr/>
        </p:nvSpPr>
        <p:spPr>
          <a:xfrm>
            <a:off x="5477256" y="4069080"/>
            <a:ext cx="2240280" cy="685800"/>
          </a:xfrm>
          <a:prstGeom prst="rect">
            <a:avLst/>
          </a:prstGeom>
          <a:noFill/>
          <a:ln/>
        </p:spPr>
        <p:txBody>
          <a:bodyPr wrap="square" lIns="0" tIns="0" rIns="0" bIns="0" rtlCol="0" anchor="ctr"/>
          <a:lstStyle/>
          <a:p>
            <a:pPr indent="0" marL="0">
              <a:buNone/>
            </a:pPr>
            <a:r>
              <a:rPr lang="en-US" sz="1900" b="1" dirty="0">
                <a:solidFill>
                  <a:schemeClr val="tx2"/>
                </a:solidFill>
              </a:rPr>
              <a:t>Reports</a:t>
            </a:r>
            <a:endParaRPr lang="en-US" sz="1900" dirty="0"/>
          </a:p>
        </p:txBody>
      </p:sp>
      <p:sp>
        <p:nvSpPr>
          <p:cNvPr id="28" name="text-95"/>
          <p:cNvSpPr txBox="1"/>
          <p:nvPr/>
        </p:nvSpPr>
        <p:spPr>
          <a:xfrm>
            <a:off x="4608576" y="4892040"/>
            <a:ext cx="3017520" cy="960120"/>
          </a:xfrm>
          <a:prstGeom prst="rect">
            <a:avLst/>
          </a:prstGeom>
          <a:noFill/>
          <a:ln/>
        </p:spPr>
        <p:txBody>
          <a:bodyPr wrap="square" lIns="0" tIns="0" rIns="0" bIns="0" rtlCol="0" anchor="t"/>
          <a:lstStyle/>
          <a:p>
            <a:pPr indent="0" marL="0">
              <a:buNone/>
            </a:pPr>
            <a:r>
              <a:rPr lang="en-US" sz="1500" dirty="0">
                <a:solidFill>
                  <a:schemeClr val="tx1"/>
                </a:solidFill>
              </a:rPr>
              <a:t>Balance, history, spending by category, month-by-month and daily views.</a:t>
            </a:r>
            <a:endParaRPr lang="en-US" sz="1500" dirty="0"/>
          </a:p>
        </p:txBody>
      </p:sp>
      <p:sp>
        <p:nvSpPr>
          <p:cNvPr id="29" name="card-96"/>
          <p:cNvSpPr/>
          <p:nvPr/>
        </p:nvSpPr>
        <p:spPr>
          <a:xfrm>
            <a:off x="8119872" y="3794760"/>
            <a:ext cx="3520440" cy="2148840"/>
          </a:xfrm>
          <a:prstGeom prst="roundRect">
            <a:avLst>
              <a:gd name="adj" fmla="val 5106"/>
            </a:avLst>
          </a:prstGeom>
          <a:solidFill>
            <a:schemeClr val="bg2"/>
          </a:solidFill>
          <a:ln w="12700">
            <a:solidFill>
              <a:schemeClr val="bg2"/>
            </a:solidFill>
            <a:prstDash val="solid"/>
          </a:ln>
        </p:spPr>
      </p:sp>
      <p:sp>
        <p:nvSpPr>
          <p:cNvPr id="30" name="badge-97"/>
          <p:cNvSpPr/>
          <p:nvPr/>
        </p:nvSpPr>
        <p:spPr>
          <a:xfrm>
            <a:off x="8394192" y="4069080"/>
            <a:ext cx="685800" cy="685800"/>
          </a:xfrm>
          <a:prstGeom prst="ellipse">
            <a:avLst/>
          </a:prstGeom>
          <a:solidFill>
            <a:srgbClr val="D9480F"/>
          </a:solidFill>
          <a:ln w="12700">
            <a:solidFill>
              <a:srgbClr val="D9480F"/>
            </a:solidFill>
            <a:prstDash val="solid"/>
          </a:ln>
        </p:spPr>
      </p:sp>
      <p:pic>
        <p:nvPicPr>
          <p:cNvPr id="31" name="icon-98" descr="Undo icon">    </p:cNvPr>
          <p:cNvPicPr>
            <a:picLocks noChangeAspect="1"/>
          </p:cNvPicPr>
          <p:nvPr/>
        </p:nvPicPr>
        <p:blipFill>
          <a:blip r:embed="rId6"/>
          <a:stretch>
            <a:fillRect/>
          </a:stretch>
        </p:blipFill>
        <p:spPr>
          <a:xfrm>
            <a:off x="8545068" y="4219956"/>
            <a:ext cx="384048" cy="384048"/>
          </a:xfrm>
          <a:prstGeom prst="rect">
            <a:avLst/>
          </a:prstGeom>
        </p:spPr>
      </p:pic>
      <p:sp>
        <p:nvSpPr>
          <p:cNvPr id="32" name="text-99"/>
          <p:cNvSpPr txBox="1"/>
          <p:nvPr/>
        </p:nvSpPr>
        <p:spPr>
          <a:xfrm>
            <a:off x="9262872" y="4069080"/>
            <a:ext cx="2240280" cy="685800"/>
          </a:xfrm>
          <a:prstGeom prst="rect">
            <a:avLst/>
          </a:prstGeom>
          <a:noFill/>
          <a:ln/>
        </p:spPr>
        <p:txBody>
          <a:bodyPr wrap="square" lIns="0" tIns="0" rIns="0" bIns="0" rtlCol="0" anchor="ctr"/>
          <a:lstStyle/>
          <a:p>
            <a:pPr indent="0" marL="0">
              <a:buNone/>
            </a:pPr>
            <a:r>
              <a:rPr lang="en-US" sz="1900" b="1" dirty="0">
                <a:solidFill>
                  <a:schemeClr val="tx2"/>
                </a:solidFill>
              </a:rPr>
              <a:t>Undo and safety</a:t>
            </a:r>
            <a:endParaRPr lang="en-US" sz="1900" dirty="0"/>
          </a:p>
        </p:txBody>
      </p:sp>
      <p:sp>
        <p:nvSpPr>
          <p:cNvPr id="33" name="text-100"/>
          <p:cNvSpPr txBox="1"/>
          <p:nvPr/>
        </p:nvSpPr>
        <p:spPr>
          <a:xfrm>
            <a:off x="8394192" y="4892040"/>
            <a:ext cx="3017520" cy="960120"/>
          </a:xfrm>
          <a:prstGeom prst="rect">
            <a:avLst/>
          </a:prstGeom>
          <a:noFill/>
          <a:ln/>
        </p:spPr>
        <p:txBody>
          <a:bodyPr wrap="square" lIns="0" tIns="0" rIns="0" bIns="0" rtlCol="0" anchor="t"/>
          <a:lstStyle/>
          <a:p>
            <a:pPr indent="0" marL="0">
              <a:buNone/>
            </a:pPr>
            <a:r>
              <a:rPr lang="en-US" sz="1500" dirty="0">
                <a:solidFill>
                  <a:schemeClr val="tx1"/>
                </a:solidFill>
              </a:rPr>
              <a:t>Undo any entry. It only answers wallet questions, nothing else.</a:t>
            </a:r>
            <a:endParaRPr lang="en-US" sz="1500" dirty="0"/>
          </a:p>
        </p:txBody>
      </p:sp>
      <p:sp>
        <p:nvSpPr>
          <p:cNvPr id="25" name="Slide Number Placeholder 0"/>
          <p:cNvSpPr>
            <a:spLocks noGrp="1"/>
          </p:cNvSpPr>
          <p:nvPr>
            <p:ph type="sldNum" sz="quarter" idx="4294967295"/>
          </p:nvPr>
        </p:nvSpPr>
        <p:spPr>
          <a:xfrm>
            <a:off x="11064240" y="6446520"/>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800" b="1" dirty="0">
                <a:solidFill>
                  <a:schemeClr val="tx2"/>
                </a:solidFill>
              </a:rPr>
              <a:t>Architecture</a:t>
            </a:r>
            <a:endParaRPr lang="en-US" sz="3800" dirty="0"/>
          </a:p>
        </p:txBody>
      </p:sp>
      <p:sp>
        <p:nvSpPr>
          <p:cNvPr id="4" name="box-101"/>
          <p:cNvSpPr/>
          <p:nvPr/>
        </p:nvSpPr>
        <p:spPr>
          <a:xfrm>
            <a:off x="5120640" y="1371600"/>
            <a:ext cx="1920240" cy="868680"/>
          </a:xfrm>
          <a:prstGeom prst="roundRect">
            <a:avLst>
              <a:gd name="adj" fmla="val 10526"/>
            </a:avLst>
          </a:prstGeom>
          <a:solidFill>
            <a:schemeClr val="accent2"/>
          </a:solidFill>
          <a:ln w="12700">
            <a:solidFill>
              <a:schemeClr val="accent2"/>
            </a:solidFill>
            <a:prstDash val="solid"/>
          </a:ln>
        </p:spPr>
      </p:sp>
      <p:sp>
        <p:nvSpPr>
          <p:cNvPr id="5" name="text-102"/>
          <p:cNvSpPr txBox="1"/>
          <p:nvPr/>
        </p:nvSpPr>
        <p:spPr>
          <a:xfrm>
            <a:off x="5212080" y="1371600"/>
            <a:ext cx="1737360" cy="868680"/>
          </a:xfrm>
          <a:prstGeom prst="rect">
            <a:avLst/>
          </a:prstGeom>
          <a:noFill/>
          <a:ln/>
        </p:spPr>
        <p:txBody>
          <a:bodyPr wrap="square" lIns="0" tIns="0" rIns="0" bIns="0" rtlCol="0" anchor="ctr"/>
          <a:lstStyle/>
          <a:p>
            <a:pPr algn="ctr" indent="0" marL="0">
              <a:buNone/>
            </a:pPr>
            <a:r>
              <a:rPr lang="en-US" sz="1500" b="1" dirty="0">
                <a:solidFill>
                  <a:schemeClr val="tx1"/>
                </a:solidFill>
              </a:rPr>
              <a:t>LLM</a:t>
            </a:r>
            <a:endParaRPr lang="en-US" sz="1500" dirty="0"/>
          </a:p>
          <a:p>
            <a:pPr algn="ctr" indent="0" marL="0">
              <a:buNone/>
            </a:pPr>
            <a:r>
              <a:rPr lang="en-US" sz="1500" b="1" dirty="0">
                <a:solidFill>
                  <a:schemeClr val="tx1"/>
                </a:solidFill>
              </a:rPr>
              <a:t>(Gemini, OpenAI, ...)</a:t>
            </a:r>
            <a:endParaRPr lang="en-US" sz="1500" dirty="0"/>
          </a:p>
        </p:txBody>
      </p:sp>
      <p:sp>
        <p:nvSpPr>
          <p:cNvPr id="6" name="arrow-103"/>
          <p:cNvSpPr/>
          <p:nvPr/>
        </p:nvSpPr>
        <p:spPr>
          <a:xfrm flipV="1">
            <a:off x="5806440" y="2240280"/>
            <a:ext cx="0" cy="868680"/>
          </a:xfrm>
          <a:prstGeom prst="line">
            <a:avLst/>
          </a:prstGeom>
          <a:noFill/>
          <a:ln w="31750">
            <a:solidFill>
              <a:schemeClr val="accent2"/>
            </a:solidFill>
            <a:prstDash val="solid"/>
            <a:tailEnd type="triangle"/>
          </a:ln>
        </p:spPr>
      </p:sp>
      <p:sp>
        <p:nvSpPr>
          <p:cNvPr id="7" name="arrow-104"/>
          <p:cNvSpPr/>
          <p:nvPr/>
        </p:nvSpPr>
        <p:spPr>
          <a:xfrm>
            <a:off x="6355080" y="2240280"/>
            <a:ext cx="0" cy="868680"/>
          </a:xfrm>
          <a:prstGeom prst="line">
            <a:avLst/>
          </a:prstGeom>
          <a:noFill/>
          <a:ln w="31750">
            <a:solidFill>
              <a:schemeClr val="accent2"/>
            </a:solidFill>
            <a:prstDash val="solid"/>
            <a:tailEnd type="triangle"/>
          </a:ln>
        </p:spPr>
      </p:sp>
      <p:sp>
        <p:nvSpPr>
          <p:cNvPr id="8" name="box-105"/>
          <p:cNvSpPr/>
          <p:nvPr/>
        </p:nvSpPr>
        <p:spPr>
          <a:xfrm>
            <a:off x="548640" y="3108960"/>
            <a:ext cx="1920240" cy="1188720"/>
          </a:xfrm>
          <a:prstGeom prst="roundRect">
            <a:avLst>
              <a:gd name="adj" fmla="val 7692"/>
            </a:avLst>
          </a:prstGeom>
          <a:solidFill>
            <a:srgbClr val="2E6FD1"/>
          </a:solidFill>
          <a:ln w="12700">
            <a:solidFill>
              <a:srgbClr val="2E6FD1"/>
            </a:solidFill>
            <a:prstDash val="solid"/>
          </a:ln>
        </p:spPr>
      </p:sp>
      <p:sp>
        <p:nvSpPr>
          <p:cNvPr id="9" name="text-106"/>
          <p:cNvSpPr txBox="1"/>
          <p:nvPr/>
        </p:nvSpPr>
        <p:spPr>
          <a:xfrm>
            <a:off x="640080" y="3108960"/>
            <a:ext cx="1737360" cy="1188720"/>
          </a:xfrm>
          <a:prstGeom prst="rect">
            <a:avLst/>
          </a:prstGeom>
          <a:noFill/>
          <a:ln/>
        </p:spPr>
        <p:txBody>
          <a:bodyPr wrap="square" lIns="0" tIns="0" rIns="0" bIns="0" rtlCol="0" anchor="ctr"/>
          <a:lstStyle/>
          <a:p>
            <a:pPr algn="ctr" indent="0" marL="0">
              <a:buNone/>
            </a:pPr>
            <a:r>
              <a:rPr lang="en-US" sz="1700" b="1" dirty="0">
                <a:solidFill>
                  <a:schemeClr val="bg1"/>
                </a:solidFill>
              </a:rPr>
              <a:t>You</a:t>
            </a:r>
            <a:endParaRPr lang="en-US" sz="1700" dirty="0"/>
          </a:p>
          <a:p>
            <a:pPr algn="ctr" indent="0" marL="0">
              <a:buNone/>
            </a:pPr>
            <a:r>
              <a:rPr lang="en-US" sz="1700" b="1" dirty="0">
                <a:solidFill>
                  <a:schemeClr val="bg1"/>
                </a:solidFill>
              </a:rPr>
              <a:t>(Telegram)</a:t>
            </a:r>
            <a:endParaRPr lang="en-US" sz="1700" dirty="0"/>
          </a:p>
        </p:txBody>
      </p:sp>
      <p:sp>
        <p:nvSpPr>
          <p:cNvPr id="10" name="text-107"/>
          <p:cNvSpPr txBox="1"/>
          <p:nvPr/>
        </p:nvSpPr>
        <p:spPr>
          <a:xfrm>
            <a:off x="548640" y="4434840"/>
            <a:ext cx="1920240" cy="822960"/>
          </a:xfrm>
          <a:prstGeom prst="rect">
            <a:avLst/>
          </a:prstGeom>
          <a:noFill/>
          <a:ln/>
        </p:spPr>
        <p:txBody>
          <a:bodyPr wrap="square" lIns="0" tIns="0" rIns="0" bIns="0" rtlCol="0" anchor="t"/>
          <a:lstStyle/>
          <a:p>
            <a:pPr algn="ctr" indent="0" marL="0">
              <a:buNone/>
            </a:pPr>
            <a:r>
              <a:rPr lang="en-US" sz="1400" dirty="0">
                <a:solidFill>
                  <a:schemeClr val="tx1"/>
                </a:solidFill>
              </a:rPr>
              <a:t>Chat, buttons, PDFs</a:t>
            </a:r>
            <a:endParaRPr lang="en-US" sz="1400" dirty="0"/>
          </a:p>
        </p:txBody>
      </p:sp>
      <p:sp>
        <p:nvSpPr>
          <p:cNvPr id="11" name="arrow-108"/>
          <p:cNvSpPr/>
          <p:nvPr/>
        </p:nvSpPr>
        <p:spPr>
          <a:xfrm>
            <a:off x="2468880" y="3703320"/>
            <a:ext cx="365760" cy="0"/>
          </a:xfrm>
          <a:prstGeom prst="line">
            <a:avLst/>
          </a:prstGeom>
          <a:noFill/>
          <a:ln w="38100">
            <a:solidFill>
              <a:schemeClr val="accent2"/>
            </a:solidFill>
            <a:prstDash val="solid"/>
            <a:tailEnd type="triangle"/>
          </a:ln>
        </p:spPr>
      </p:sp>
      <p:sp>
        <p:nvSpPr>
          <p:cNvPr id="12" name="box-109"/>
          <p:cNvSpPr/>
          <p:nvPr/>
        </p:nvSpPr>
        <p:spPr>
          <a:xfrm>
            <a:off x="2834640" y="3108960"/>
            <a:ext cx="1920240" cy="1188720"/>
          </a:xfrm>
          <a:prstGeom prst="roundRect">
            <a:avLst>
              <a:gd name="adj" fmla="val 7692"/>
            </a:avLst>
          </a:prstGeom>
          <a:solidFill>
            <a:srgbClr val="1F5FA8"/>
          </a:solidFill>
          <a:ln w="12700">
            <a:solidFill>
              <a:srgbClr val="1F5FA8"/>
            </a:solidFill>
            <a:prstDash val="solid"/>
          </a:ln>
        </p:spPr>
      </p:sp>
      <p:sp>
        <p:nvSpPr>
          <p:cNvPr id="13" name="text-110"/>
          <p:cNvSpPr txBox="1"/>
          <p:nvPr/>
        </p:nvSpPr>
        <p:spPr>
          <a:xfrm>
            <a:off x="2926080" y="3108960"/>
            <a:ext cx="1737360" cy="1188720"/>
          </a:xfrm>
          <a:prstGeom prst="rect">
            <a:avLst/>
          </a:prstGeom>
          <a:noFill/>
          <a:ln/>
        </p:spPr>
        <p:txBody>
          <a:bodyPr wrap="square" lIns="0" tIns="0" rIns="0" bIns="0" rtlCol="0" anchor="ctr"/>
          <a:lstStyle/>
          <a:p>
            <a:pPr algn="ctr" indent="0" marL="0">
              <a:buNone/>
            </a:pPr>
            <a:r>
              <a:rPr lang="en-US" sz="1700" b="1" dirty="0">
                <a:solidFill>
                  <a:schemeClr val="bg1"/>
                </a:solidFill>
              </a:rPr>
              <a:t>Bot service</a:t>
            </a:r>
            <a:endParaRPr lang="en-US" sz="1700" dirty="0"/>
          </a:p>
          <a:p>
            <a:pPr algn="ctr" indent="0" marL="0">
              <a:buNone/>
            </a:pPr>
            <a:r>
              <a:rPr lang="en-US" sz="1700" b="1" dirty="0">
                <a:solidFill>
                  <a:schemeClr val="bg1"/>
                </a:solidFill>
              </a:rPr>
              <a:t>(FastAPI)</a:t>
            </a:r>
            <a:endParaRPr lang="en-US" sz="1700" dirty="0"/>
          </a:p>
        </p:txBody>
      </p:sp>
      <p:sp>
        <p:nvSpPr>
          <p:cNvPr id="14" name="text-111"/>
          <p:cNvSpPr txBox="1"/>
          <p:nvPr/>
        </p:nvSpPr>
        <p:spPr>
          <a:xfrm>
            <a:off x="2834640" y="4434840"/>
            <a:ext cx="1920240" cy="822960"/>
          </a:xfrm>
          <a:prstGeom prst="rect">
            <a:avLst/>
          </a:prstGeom>
          <a:noFill/>
          <a:ln/>
        </p:spPr>
        <p:txBody>
          <a:bodyPr wrap="square" lIns="0" tIns="0" rIns="0" bIns="0" rtlCol="0" anchor="t"/>
          <a:lstStyle/>
          <a:p>
            <a:pPr algn="ctr" indent="0" marL="0">
              <a:buNone/>
            </a:pPr>
            <a:r>
              <a:rPr lang="en-US" sz="1400" dirty="0">
                <a:solidFill>
                  <a:schemeClr val="tx1"/>
                </a:solidFill>
              </a:rPr>
              <a:t>Receives messages and sends replies</a:t>
            </a:r>
            <a:endParaRPr lang="en-US" sz="1400" dirty="0"/>
          </a:p>
        </p:txBody>
      </p:sp>
      <p:sp>
        <p:nvSpPr>
          <p:cNvPr id="15" name="arrow-112"/>
          <p:cNvSpPr/>
          <p:nvPr/>
        </p:nvSpPr>
        <p:spPr>
          <a:xfrm>
            <a:off x="4754880" y="3703320"/>
            <a:ext cx="365760" cy="0"/>
          </a:xfrm>
          <a:prstGeom prst="line">
            <a:avLst/>
          </a:prstGeom>
          <a:noFill/>
          <a:ln w="38100">
            <a:solidFill>
              <a:schemeClr val="accent2"/>
            </a:solidFill>
            <a:prstDash val="solid"/>
            <a:tailEnd type="triangle"/>
          </a:ln>
        </p:spPr>
      </p:sp>
      <p:sp>
        <p:nvSpPr>
          <p:cNvPr id="16" name="box-113"/>
          <p:cNvSpPr/>
          <p:nvPr/>
        </p:nvSpPr>
        <p:spPr>
          <a:xfrm>
            <a:off x="5120640" y="3108960"/>
            <a:ext cx="1920240" cy="1188720"/>
          </a:xfrm>
          <a:prstGeom prst="roundRect">
            <a:avLst>
              <a:gd name="adj" fmla="val 7692"/>
            </a:avLst>
          </a:prstGeom>
          <a:solidFill>
            <a:srgbClr val="163D73"/>
          </a:solidFill>
          <a:ln w="12700">
            <a:solidFill>
              <a:srgbClr val="163D73"/>
            </a:solidFill>
            <a:prstDash val="solid"/>
          </a:ln>
        </p:spPr>
      </p:sp>
      <p:sp>
        <p:nvSpPr>
          <p:cNvPr id="17" name="text-114"/>
          <p:cNvSpPr txBox="1"/>
          <p:nvPr/>
        </p:nvSpPr>
        <p:spPr>
          <a:xfrm>
            <a:off x="5212080" y="3108960"/>
            <a:ext cx="1737360" cy="1188720"/>
          </a:xfrm>
          <a:prstGeom prst="rect">
            <a:avLst/>
          </a:prstGeom>
          <a:noFill/>
          <a:ln/>
        </p:spPr>
        <p:txBody>
          <a:bodyPr wrap="square" lIns="0" tIns="0" rIns="0" bIns="0" rtlCol="0" anchor="ctr"/>
          <a:lstStyle/>
          <a:p>
            <a:pPr algn="ctr" indent="0" marL="0">
              <a:buNone/>
            </a:pPr>
            <a:r>
              <a:rPr lang="en-US" sz="1700" b="1" dirty="0">
                <a:solidFill>
                  <a:schemeClr val="bg1"/>
                </a:solidFill>
              </a:rPr>
              <a:t>AI agent</a:t>
            </a:r>
            <a:endParaRPr lang="en-US" sz="1700" dirty="0"/>
          </a:p>
          <a:p>
            <a:pPr algn="ctr" indent="0" marL="0">
              <a:buNone/>
            </a:pPr>
            <a:r>
              <a:rPr lang="en-US" sz="1700" b="1" dirty="0">
                <a:solidFill>
                  <a:schemeClr val="bg1"/>
                </a:solidFill>
              </a:rPr>
              <a:t>(LangGraph)</a:t>
            </a:r>
            <a:endParaRPr lang="en-US" sz="1700" dirty="0"/>
          </a:p>
        </p:txBody>
      </p:sp>
      <p:sp>
        <p:nvSpPr>
          <p:cNvPr id="18" name="text-115"/>
          <p:cNvSpPr txBox="1"/>
          <p:nvPr/>
        </p:nvSpPr>
        <p:spPr>
          <a:xfrm>
            <a:off x="5120640" y="4434840"/>
            <a:ext cx="1920240" cy="822960"/>
          </a:xfrm>
          <a:prstGeom prst="rect">
            <a:avLst/>
          </a:prstGeom>
          <a:noFill/>
          <a:ln/>
        </p:spPr>
        <p:txBody>
          <a:bodyPr wrap="square" lIns="0" tIns="0" rIns="0" bIns="0" rtlCol="0" anchor="t"/>
          <a:lstStyle/>
          <a:p>
            <a:pPr algn="ctr" indent="0" marL="0">
              <a:buNone/>
            </a:pPr>
            <a:r>
              <a:rPr lang="en-US" sz="1400" dirty="0">
                <a:solidFill>
                  <a:schemeClr val="tx1"/>
                </a:solidFill>
              </a:rPr>
              <a:t>Understands the message, picks the action</a:t>
            </a:r>
            <a:endParaRPr lang="en-US" sz="1400" dirty="0"/>
          </a:p>
        </p:txBody>
      </p:sp>
      <p:sp>
        <p:nvSpPr>
          <p:cNvPr id="19" name="arrow-116"/>
          <p:cNvSpPr/>
          <p:nvPr/>
        </p:nvSpPr>
        <p:spPr>
          <a:xfrm>
            <a:off x="7040880" y="3703320"/>
            <a:ext cx="365760" cy="0"/>
          </a:xfrm>
          <a:prstGeom prst="line">
            <a:avLst/>
          </a:prstGeom>
          <a:noFill/>
          <a:ln w="38100">
            <a:solidFill>
              <a:schemeClr val="accent2"/>
            </a:solidFill>
            <a:prstDash val="solid"/>
            <a:tailEnd type="triangle"/>
          </a:ln>
        </p:spPr>
      </p:sp>
      <p:sp>
        <p:nvSpPr>
          <p:cNvPr id="20" name="box-117"/>
          <p:cNvSpPr/>
          <p:nvPr/>
        </p:nvSpPr>
        <p:spPr>
          <a:xfrm>
            <a:off x="7406640" y="3108960"/>
            <a:ext cx="1920240" cy="1188720"/>
          </a:xfrm>
          <a:prstGeom prst="roundRect">
            <a:avLst>
              <a:gd name="adj" fmla="val 7692"/>
            </a:avLst>
          </a:prstGeom>
          <a:solidFill>
            <a:srgbClr val="0B2545"/>
          </a:solidFill>
          <a:ln w="12700">
            <a:solidFill>
              <a:srgbClr val="0B2545"/>
            </a:solidFill>
            <a:prstDash val="solid"/>
          </a:ln>
        </p:spPr>
      </p:sp>
      <p:sp>
        <p:nvSpPr>
          <p:cNvPr id="21" name="text-118"/>
          <p:cNvSpPr txBox="1"/>
          <p:nvPr/>
        </p:nvSpPr>
        <p:spPr>
          <a:xfrm>
            <a:off x="7498080" y="3108960"/>
            <a:ext cx="1737360" cy="1188720"/>
          </a:xfrm>
          <a:prstGeom prst="rect">
            <a:avLst/>
          </a:prstGeom>
          <a:noFill/>
          <a:ln/>
        </p:spPr>
        <p:txBody>
          <a:bodyPr wrap="square" lIns="0" tIns="0" rIns="0" bIns="0" rtlCol="0" anchor="ctr"/>
          <a:lstStyle/>
          <a:p>
            <a:pPr algn="ctr" indent="0" marL="0">
              <a:buNone/>
            </a:pPr>
            <a:r>
              <a:rPr lang="en-US" sz="1700" b="1" dirty="0">
                <a:solidFill>
                  <a:schemeClr val="bg1"/>
                </a:solidFill>
              </a:rPr>
              <a:t>Tools and</a:t>
            </a:r>
            <a:endParaRPr lang="en-US" sz="1700" dirty="0"/>
          </a:p>
          <a:p>
            <a:pPr algn="ctr" indent="0" marL="0">
              <a:buNone/>
            </a:pPr>
            <a:r>
              <a:rPr lang="en-US" sz="1700" b="1" dirty="0">
                <a:solidFill>
                  <a:schemeClr val="bg1"/>
                </a:solidFill>
              </a:rPr>
              <a:t>core logic</a:t>
            </a:r>
            <a:endParaRPr lang="en-US" sz="1700" dirty="0"/>
          </a:p>
        </p:txBody>
      </p:sp>
      <p:sp>
        <p:nvSpPr>
          <p:cNvPr id="22" name="text-119"/>
          <p:cNvSpPr txBox="1"/>
          <p:nvPr/>
        </p:nvSpPr>
        <p:spPr>
          <a:xfrm>
            <a:off x="7406640" y="4434840"/>
            <a:ext cx="1920240" cy="822960"/>
          </a:xfrm>
          <a:prstGeom prst="rect">
            <a:avLst/>
          </a:prstGeom>
          <a:noFill/>
          <a:ln/>
        </p:spPr>
        <p:txBody>
          <a:bodyPr wrap="square" lIns="0" tIns="0" rIns="0" bIns="0" rtlCol="0" anchor="t"/>
          <a:lstStyle/>
          <a:p>
            <a:pPr algn="ctr" indent="0" marL="0">
              <a:buNone/>
            </a:pPr>
            <a:r>
              <a:rPr lang="en-US" sz="1400" dirty="0">
                <a:solidFill>
                  <a:schemeClr val="tx1"/>
                </a:solidFill>
              </a:rPr>
              <a:t>Updates balances, budgets, reports</a:t>
            </a:r>
            <a:endParaRPr lang="en-US" sz="1400" dirty="0"/>
          </a:p>
        </p:txBody>
      </p:sp>
      <p:sp>
        <p:nvSpPr>
          <p:cNvPr id="23" name="arrow-120"/>
          <p:cNvSpPr/>
          <p:nvPr/>
        </p:nvSpPr>
        <p:spPr>
          <a:xfrm>
            <a:off x="9326880" y="3703320"/>
            <a:ext cx="365760" cy="0"/>
          </a:xfrm>
          <a:prstGeom prst="line">
            <a:avLst/>
          </a:prstGeom>
          <a:noFill/>
          <a:ln w="38100">
            <a:solidFill>
              <a:schemeClr val="accent2"/>
            </a:solidFill>
            <a:prstDash val="solid"/>
            <a:tailEnd type="triangle"/>
          </a:ln>
        </p:spPr>
      </p:sp>
      <p:sp>
        <p:nvSpPr>
          <p:cNvPr id="24" name="box-121"/>
          <p:cNvSpPr/>
          <p:nvPr/>
        </p:nvSpPr>
        <p:spPr>
          <a:xfrm>
            <a:off x="9692640" y="3108960"/>
            <a:ext cx="1920240" cy="1188720"/>
          </a:xfrm>
          <a:prstGeom prst="roundRect">
            <a:avLst>
              <a:gd name="adj" fmla="val 7692"/>
            </a:avLst>
          </a:prstGeom>
          <a:solidFill>
            <a:srgbClr val="13233A"/>
          </a:solidFill>
          <a:ln w="12700">
            <a:solidFill>
              <a:srgbClr val="13233A"/>
            </a:solidFill>
            <a:prstDash val="solid"/>
          </a:ln>
        </p:spPr>
      </p:sp>
      <p:sp>
        <p:nvSpPr>
          <p:cNvPr id="25" name="text-122"/>
          <p:cNvSpPr txBox="1"/>
          <p:nvPr/>
        </p:nvSpPr>
        <p:spPr>
          <a:xfrm>
            <a:off x="9784080" y="3108960"/>
            <a:ext cx="1737360" cy="1188720"/>
          </a:xfrm>
          <a:prstGeom prst="rect">
            <a:avLst/>
          </a:prstGeom>
          <a:noFill/>
          <a:ln/>
        </p:spPr>
        <p:txBody>
          <a:bodyPr wrap="square" lIns="0" tIns="0" rIns="0" bIns="0" rtlCol="0" anchor="ctr"/>
          <a:lstStyle/>
          <a:p>
            <a:pPr algn="ctr" indent="0" marL="0">
              <a:buNone/>
            </a:pPr>
            <a:r>
              <a:rPr lang="en-US" sz="1700" b="1" dirty="0">
                <a:solidFill>
                  <a:schemeClr val="bg1"/>
                </a:solidFill>
              </a:rPr>
              <a:t>PostgreSQL</a:t>
            </a:r>
            <a:endParaRPr lang="en-US" sz="1700" dirty="0"/>
          </a:p>
          <a:p>
            <a:pPr algn="ctr" indent="0" marL="0">
              <a:buNone/>
            </a:pPr>
            <a:r>
              <a:rPr lang="en-US" sz="1700" b="1" dirty="0">
                <a:solidFill>
                  <a:schemeClr val="bg1"/>
                </a:solidFill>
              </a:rPr>
              <a:t>database</a:t>
            </a:r>
            <a:endParaRPr lang="en-US" sz="1700" dirty="0"/>
          </a:p>
        </p:txBody>
      </p:sp>
      <p:sp>
        <p:nvSpPr>
          <p:cNvPr id="26" name="text-123"/>
          <p:cNvSpPr txBox="1"/>
          <p:nvPr/>
        </p:nvSpPr>
        <p:spPr>
          <a:xfrm>
            <a:off x="9692640" y="4434840"/>
            <a:ext cx="1920240" cy="822960"/>
          </a:xfrm>
          <a:prstGeom prst="rect">
            <a:avLst/>
          </a:prstGeom>
          <a:noFill/>
          <a:ln/>
        </p:spPr>
        <p:txBody>
          <a:bodyPr wrap="square" lIns="0" tIns="0" rIns="0" bIns="0" rtlCol="0" anchor="t"/>
          <a:lstStyle/>
          <a:p>
            <a:pPr algn="ctr" indent="0" marL="0">
              <a:buNone/>
            </a:pPr>
            <a:r>
              <a:rPr lang="en-US" sz="1400" dirty="0">
                <a:solidFill>
                  <a:schemeClr val="tx1"/>
                </a:solidFill>
              </a:rPr>
              <a:t>Stores every transaction</a:t>
            </a:r>
            <a:endParaRPr lang="en-US" sz="1400" dirty="0"/>
          </a:p>
        </p:txBody>
      </p:sp>
      <p:sp>
        <p:nvSpPr>
          <p:cNvPr id="27" name="card-124"/>
          <p:cNvSpPr/>
          <p:nvPr/>
        </p:nvSpPr>
        <p:spPr>
          <a:xfrm>
            <a:off x="548640" y="5486400"/>
            <a:ext cx="11091672" cy="777240"/>
          </a:xfrm>
          <a:prstGeom prst="roundRect">
            <a:avLst>
              <a:gd name="adj" fmla="val 14118"/>
            </a:avLst>
          </a:prstGeom>
          <a:solidFill>
            <a:schemeClr val="bg2"/>
          </a:solidFill>
          <a:ln w="12700">
            <a:solidFill>
              <a:schemeClr val="bg2"/>
            </a:solidFill>
            <a:prstDash val="solid"/>
          </a:ln>
        </p:spPr>
      </p:sp>
      <p:sp>
        <p:nvSpPr>
          <p:cNvPr id="28" name="text-125"/>
          <p:cNvSpPr txBox="1"/>
          <p:nvPr/>
        </p:nvSpPr>
        <p:spPr>
          <a:xfrm>
            <a:off x="777240" y="5486400"/>
            <a:ext cx="10607040" cy="777240"/>
          </a:xfrm>
          <a:prstGeom prst="rect">
            <a:avLst/>
          </a:prstGeom>
          <a:noFill/>
          <a:ln/>
        </p:spPr>
        <p:txBody>
          <a:bodyPr wrap="square" lIns="0" tIns="0" rIns="0" bIns="0" rtlCol="0" anchor="ctr"/>
          <a:lstStyle/>
          <a:p>
            <a:pPr indent="0" marL="0">
              <a:buNone/>
            </a:pPr>
            <a:r>
              <a:rPr lang="en-US" sz="1600" b="1" dirty="0">
                <a:solidFill>
                  <a:schemeClr val="tx2"/>
                </a:solidFill>
              </a:rPr>
              <a:t>Shortcut: menu buttons (balance, history) skip the AI and read the database directly, so they answer instantly.</a:t>
            </a:r>
            <a:endParaRPr lang="en-US" sz="1600" dirty="0"/>
          </a:p>
        </p:txBody>
      </p:sp>
      <p:sp>
        <p:nvSpPr>
          <p:cNvPr id="25" name="Slide Number Placeholder 0"/>
          <p:cNvSpPr>
            <a:spLocks noGrp="1"/>
          </p:cNvSpPr>
          <p:nvPr>
            <p:ph type="sldNum" sz="quarter" idx="4294967295"/>
          </p:nvPr>
        </p:nvSpPr>
        <p:spPr>
          <a:xfrm>
            <a:off x="11064240" y="6446520"/>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800" b="1" dirty="0">
                <a:solidFill>
                  <a:schemeClr val="tx2"/>
                </a:solidFill>
              </a:rPr>
              <a:t>State graph: how a request moves</a:t>
            </a:r>
            <a:endParaRPr lang="en-US" sz="3800" dirty="0"/>
          </a:p>
        </p:txBody>
      </p:sp>
      <p:sp>
        <p:nvSpPr>
          <p:cNvPr id="4" name="start"/>
          <p:cNvSpPr/>
          <p:nvPr/>
        </p:nvSpPr>
        <p:spPr>
          <a:xfrm>
            <a:off x="548640" y="2194560"/>
            <a:ext cx="731520" cy="731520"/>
          </a:xfrm>
          <a:prstGeom prst="ellipse">
            <a:avLst/>
          </a:prstGeom>
          <a:solidFill>
            <a:schemeClr val="tx1"/>
          </a:solidFill>
          <a:ln w="12700">
            <a:solidFill>
              <a:schemeClr val="tx1"/>
            </a:solidFill>
            <a:prstDash val="solid"/>
          </a:ln>
        </p:spPr>
      </p:sp>
      <p:sp>
        <p:nvSpPr>
          <p:cNvPr id="5" name="text-126"/>
          <p:cNvSpPr txBox="1"/>
          <p:nvPr/>
        </p:nvSpPr>
        <p:spPr>
          <a:xfrm>
            <a:off x="548640" y="2194560"/>
            <a:ext cx="731520" cy="731520"/>
          </a:xfrm>
          <a:prstGeom prst="rect">
            <a:avLst/>
          </a:prstGeom>
          <a:noFill/>
          <a:ln/>
        </p:spPr>
        <p:txBody>
          <a:bodyPr wrap="square" lIns="0" tIns="0" rIns="0" bIns="0" rtlCol="0" anchor="ctr"/>
          <a:lstStyle/>
          <a:p>
            <a:pPr algn="ctr" indent="0" marL="0">
              <a:buNone/>
            </a:pPr>
            <a:r>
              <a:rPr lang="en-US" sz="1100" b="1" dirty="0">
                <a:solidFill>
                  <a:schemeClr val="bg1"/>
                </a:solidFill>
              </a:rPr>
              <a:t>START</a:t>
            </a:r>
            <a:endParaRPr lang="en-US" sz="1100" dirty="0"/>
          </a:p>
        </p:txBody>
      </p:sp>
      <p:sp>
        <p:nvSpPr>
          <p:cNvPr id="6" name="box-127"/>
          <p:cNvSpPr/>
          <p:nvPr/>
        </p:nvSpPr>
        <p:spPr>
          <a:xfrm>
            <a:off x="2011680" y="2103120"/>
            <a:ext cx="1920240" cy="914400"/>
          </a:xfrm>
          <a:prstGeom prst="roundRect">
            <a:avLst>
              <a:gd name="adj" fmla="val 10000"/>
            </a:avLst>
          </a:prstGeom>
          <a:solidFill>
            <a:schemeClr val="accent6"/>
          </a:solidFill>
          <a:ln w="12700">
            <a:solidFill>
              <a:schemeClr val="accent6"/>
            </a:solidFill>
            <a:prstDash val="solid"/>
          </a:ln>
        </p:spPr>
      </p:sp>
      <p:sp>
        <p:nvSpPr>
          <p:cNvPr id="7" name="text-128"/>
          <p:cNvSpPr txBox="1"/>
          <p:nvPr/>
        </p:nvSpPr>
        <p:spPr>
          <a:xfrm>
            <a:off x="2103120" y="2103120"/>
            <a:ext cx="1737360" cy="914400"/>
          </a:xfrm>
          <a:prstGeom prst="rect">
            <a:avLst/>
          </a:prstGeom>
          <a:noFill/>
          <a:ln/>
        </p:spPr>
        <p:txBody>
          <a:bodyPr wrap="square" lIns="0" tIns="0" rIns="0" bIns="0" rtlCol="0" anchor="ctr"/>
          <a:lstStyle/>
          <a:p>
            <a:pPr algn="ctr" indent="0" marL="0">
              <a:buNone/>
            </a:pPr>
            <a:r>
              <a:rPr lang="en-US" sz="2000" b="1" dirty="0">
                <a:solidFill>
                  <a:schemeClr val="bg1"/>
                </a:solidFill>
              </a:rPr>
              <a:t>agent</a:t>
            </a:r>
            <a:endParaRPr lang="en-US" sz="2000" dirty="0"/>
          </a:p>
        </p:txBody>
      </p:sp>
      <p:sp>
        <p:nvSpPr>
          <p:cNvPr id="8" name="box-129"/>
          <p:cNvSpPr/>
          <p:nvPr/>
        </p:nvSpPr>
        <p:spPr>
          <a:xfrm>
            <a:off x="4937760" y="2103120"/>
            <a:ext cx="1920240" cy="914400"/>
          </a:xfrm>
          <a:prstGeom prst="roundRect">
            <a:avLst>
              <a:gd name="adj" fmla="val 10000"/>
            </a:avLst>
          </a:prstGeom>
          <a:solidFill>
            <a:schemeClr val="accent1"/>
          </a:solidFill>
          <a:ln w="12700">
            <a:solidFill>
              <a:schemeClr val="accent1"/>
            </a:solidFill>
            <a:prstDash val="solid"/>
          </a:ln>
        </p:spPr>
      </p:sp>
      <p:sp>
        <p:nvSpPr>
          <p:cNvPr id="9" name="text-130"/>
          <p:cNvSpPr txBox="1"/>
          <p:nvPr/>
        </p:nvSpPr>
        <p:spPr>
          <a:xfrm>
            <a:off x="5029200" y="2103120"/>
            <a:ext cx="1737360" cy="914400"/>
          </a:xfrm>
          <a:prstGeom prst="rect">
            <a:avLst/>
          </a:prstGeom>
          <a:noFill/>
          <a:ln/>
        </p:spPr>
        <p:txBody>
          <a:bodyPr wrap="square" lIns="0" tIns="0" rIns="0" bIns="0" rtlCol="0" anchor="ctr"/>
          <a:lstStyle/>
          <a:p>
            <a:pPr algn="ctr" indent="0" marL="0">
              <a:buNone/>
            </a:pPr>
            <a:r>
              <a:rPr lang="en-US" sz="2000" b="1" dirty="0">
                <a:solidFill>
                  <a:schemeClr val="bg1"/>
                </a:solidFill>
              </a:rPr>
              <a:t>tools</a:t>
            </a:r>
            <a:endParaRPr lang="en-US" sz="2000" dirty="0"/>
          </a:p>
        </p:txBody>
      </p:sp>
      <p:sp>
        <p:nvSpPr>
          <p:cNvPr id="10" name="box-131"/>
          <p:cNvSpPr/>
          <p:nvPr/>
        </p:nvSpPr>
        <p:spPr>
          <a:xfrm>
            <a:off x="7863840" y="2103120"/>
            <a:ext cx="1920240" cy="914400"/>
          </a:xfrm>
          <a:prstGeom prst="roundRect">
            <a:avLst>
              <a:gd name="adj" fmla="val 10000"/>
            </a:avLst>
          </a:prstGeom>
          <a:solidFill>
            <a:schemeClr val="accent2"/>
          </a:solidFill>
          <a:ln w="12700">
            <a:solidFill>
              <a:schemeClr val="accent2"/>
            </a:solidFill>
            <a:prstDash val="solid"/>
          </a:ln>
        </p:spPr>
      </p:sp>
      <p:sp>
        <p:nvSpPr>
          <p:cNvPr id="11" name="text-132"/>
          <p:cNvSpPr txBox="1"/>
          <p:nvPr/>
        </p:nvSpPr>
        <p:spPr>
          <a:xfrm>
            <a:off x="7955280" y="2103120"/>
            <a:ext cx="1737360" cy="914400"/>
          </a:xfrm>
          <a:prstGeom prst="rect">
            <a:avLst/>
          </a:prstGeom>
          <a:noFill/>
          <a:ln/>
        </p:spPr>
        <p:txBody>
          <a:bodyPr wrap="square" lIns="0" tIns="0" rIns="0" bIns="0" rtlCol="0" anchor="ctr"/>
          <a:lstStyle/>
          <a:p>
            <a:pPr algn="ctr" indent="0" marL="0">
              <a:buNone/>
            </a:pPr>
            <a:r>
              <a:rPr lang="en-US" sz="2000" b="1" dirty="0">
                <a:solidFill>
                  <a:schemeClr val="tx1"/>
                </a:solidFill>
              </a:rPr>
              <a:t>respond</a:t>
            </a:r>
            <a:endParaRPr lang="en-US" sz="2000" dirty="0"/>
          </a:p>
        </p:txBody>
      </p:sp>
      <p:sp>
        <p:nvSpPr>
          <p:cNvPr id="12" name="end"/>
          <p:cNvSpPr/>
          <p:nvPr/>
        </p:nvSpPr>
        <p:spPr>
          <a:xfrm>
            <a:off x="10881360" y="2194560"/>
            <a:ext cx="731520" cy="731520"/>
          </a:xfrm>
          <a:prstGeom prst="ellipse">
            <a:avLst/>
          </a:prstGeom>
          <a:solidFill>
            <a:schemeClr val="tx1"/>
          </a:solidFill>
          <a:ln w="12700">
            <a:solidFill>
              <a:schemeClr val="tx1"/>
            </a:solidFill>
            <a:prstDash val="solid"/>
          </a:ln>
        </p:spPr>
      </p:sp>
      <p:sp>
        <p:nvSpPr>
          <p:cNvPr id="13" name="text-133"/>
          <p:cNvSpPr txBox="1"/>
          <p:nvPr/>
        </p:nvSpPr>
        <p:spPr>
          <a:xfrm>
            <a:off x="10881360" y="2194560"/>
            <a:ext cx="731520" cy="731520"/>
          </a:xfrm>
          <a:prstGeom prst="rect">
            <a:avLst/>
          </a:prstGeom>
          <a:noFill/>
          <a:ln/>
        </p:spPr>
        <p:txBody>
          <a:bodyPr wrap="square" lIns="0" tIns="0" rIns="0" bIns="0" rtlCol="0" anchor="ctr"/>
          <a:lstStyle/>
          <a:p>
            <a:pPr algn="ctr" indent="0" marL="0">
              <a:buNone/>
            </a:pPr>
            <a:r>
              <a:rPr lang="en-US" sz="1100" b="1" dirty="0">
                <a:solidFill>
                  <a:schemeClr val="bg1"/>
                </a:solidFill>
              </a:rPr>
              <a:t>END</a:t>
            </a:r>
            <a:endParaRPr lang="en-US" sz="1100" dirty="0"/>
          </a:p>
        </p:txBody>
      </p:sp>
      <p:sp>
        <p:nvSpPr>
          <p:cNvPr id="14" name="arrow-134"/>
          <p:cNvSpPr/>
          <p:nvPr/>
        </p:nvSpPr>
        <p:spPr>
          <a:xfrm>
            <a:off x="1280160" y="2560320"/>
            <a:ext cx="731520" cy="0"/>
          </a:xfrm>
          <a:prstGeom prst="line">
            <a:avLst/>
          </a:prstGeom>
          <a:noFill/>
          <a:ln w="38100">
            <a:solidFill>
              <a:schemeClr val="accent1"/>
            </a:solidFill>
            <a:prstDash val="solid"/>
            <a:tailEnd type="triangle"/>
          </a:ln>
        </p:spPr>
      </p:sp>
      <p:sp>
        <p:nvSpPr>
          <p:cNvPr id="15" name="arrow-135"/>
          <p:cNvSpPr/>
          <p:nvPr/>
        </p:nvSpPr>
        <p:spPr>
          <a:xfrm>
            <a:off x="3931920" y="2560320"/>
            <a:ext cx="1005840" cy="0"/>
          </a:xfrm>
          <a:prstGeom prst="line">
            <a:avLst/>
          </a:prstGeom>
          <a:noFill/>
          <a:ln w="38100">
            <a:solidFill>
              <a:schemeClr val="accent1"/>
            </a:solidFill>
            <a:prstDash val="solid"/>
            <a:tailEnd type="triangle"/>
          </a:ln>
        </p:spPr>
      </p:sp>
      <p:sp>
        <p:nvSpPr>
          <p:cNvPr id="16" name="text-136"/>
          <p:cNvSpPr txBox="1"/>
          <p:nvPr/>
        </p:nvSpPr>
        <p:spPr>
          <a:xfrm>
            <a:off x="3931920" y="2212848"/>
            <a:ext cx="1005840" cy="274320"/>
          </a:xfrm>
          <a:prstGeom prst="rect">
            <a:avLst/>
          </a:prstGeom>
          <a:noFill/>
          <a:ln/>
        </p:spPr>
        <p:txBody>
          <a:bodyPr wrap="square" lIns="0" tIns="0" rIns="0" bIns="0" rtlCol="0" anchor="t"/>
          <a:lstStyle/>
          <a:p>
            <a:pPr algn="ctr" indent="0" marL="0">
              <a:buNone/>
            </a:pPr>
            <a:r>
              <a:rPr lang="en-US" sz="1300" b="1" dirty="0">
                <a:solidFill>
                  <a:schemeClr val="accent1"/>
                </a:solidFill>
              </a:rPr>
              <a:t>tool calls</a:t>
            </a:r>
            <a:endParaRPr lang="en-US" sz="1300" dirty="0"/>
          </a:p>
        </p:txBody>
      </p:sp>
      <p:sp>
        <p:nvSpPr>
          <p:cNvPr id="17" name="arrow-137"/>
          <p:cNvSpPr/>
          <p:nvPr/>
        </p:nvSpPr>
        <p:spPr>
          <a:xfrm>
            <a:off x="6858000" y="2560320"/>
            <a:ext cx="1005840" cy="0"/>
          </a:xfrm>
          <a:prstGeom prst="line">
            <a:avLst/>
          </a:prstGeom>
          <a:noFill/>
          <a:ln w="38100">
            <a:solidFill>
              <a:schemeClr val="accent1"/>
            </a:solidFill>
            <a:prstDash val="solid"/>
            <a:tailEnd type="triangle"/>
          </a:ln>
        </p:spPr>
      </p:sp>
      <p:sp>
        <p:nvSpPr>
          <p:cNvPr id="18" name="text-138"/>
          <p:cNvSpPr txBox="1"/>
          <p:nvPr/>
        </p:nvSpPr>
        <p:spPr>
          <a:xfrm>
            <a:off x="6858000" y="2212848"/>
            <a:ext cx="1005840" cy="274320"/>
          </a:xfrm>
          <a:prstGeom prst="rect">
            <a:avLst/>
          </a:prstGeom>
          <a:noFill/>
          <a:ln/>
        </p:spPr>
        <p:txBody>
          <a:bodyPr wrap="square" lIns="0" tIns="0" rIns="0" bIns="0" rtlCol="0" anchor="t"/>
          <a:lstStyle/>
          <a:p>
            <a:pPr algn="ctr" indent="0" marL="0">
              <a:buNone/>
            </a:pPr>
            <a:r>
              <a:rPr lang="en-US" sz="1300" b="1" dirty="0">
                <a:solidFill>
                  <a:schemeClr val="accent1"/>
                </a:solidFill>
              </a:rPr>
              <a:t>all OK</a:t>
            </a:r>
            <a:endParaRPr lang="en-US" sz="1300" dirty="0"/>
          </a:p>
        </p:txBody>
      </p:sp>
      <p:sp>
        <p:nvSpPr>
          <p:cNvPr id="19" name="arrow-139"/>
          <p:cNvSpPr/>
          <p:nvPr/>
        </p:nvSpPr>
        <p:spPr>
          <a:xfrm>
            <a:off x="9784080" y="2560320"/>
            <a:ext cx="1097280" cy="0"/>
          </a:xfrm>
          <a:prstGeom prst="line">
            <a:avLst/>
          </a:prstGeom>
          <a:noFill/>
          <a:ln w="38100">
            <a:solidFill>
              <a:schemeClr val="accent1"/>
            </a:solidFill>
            <a:prstDash val="solid"/>
            <a:tailEnd type="triangle"/>
          </a:ln>
        </p:spPr>
      </p:sp>
      <p:sp>
        <p:nvSpPr>
          <p:cNvPr id="20" name="arrow-140"/>
          <p:cNvSpPr/>
          <p:nvPr/>
        </p:nvSpPr>
        <p:spPr>
          <a:xfrm flipV="1">
            <a:off x="2971800" y="1600200"/>
            <a:ext cx="0" cy="502920"/>
          </a:xfrm>
          <a:prstGeom prst="line">
            <a:avLst/>
          </a:prstGeom>
          <a:noFill/>
          <a:ln w="31750">
            <a:solidFill>
              <a:schemeClr val="accent3"/>
            </a:solidFill>
            <a:prstDash val="solid"/>
          </a:ln>
        </p:spPr>
      </p:sp>
      <p:sp>
        <p:nvSpPr>
          <p:cNvPr id="21" name="arrow-141"/>
          <p:cNvSpPr/>
          <p:nvPr/>
        </p:nvSpPr>
        <p:spPr>
          <a:xfrm>
            <a:off x="2971800" y="1600200"/>
            <a:ext cx="8275320" cy="0"/>
          </a:xfrm>
          <a:prstGeom prst="line">
            <a:avLst/>
          </a:prstGeom>
          <a:noFill/>
          <a:ln w="31750">
            <a:solidFill>
              <a:schemeClr val="accent3"/>
            </a:solidFill>
            <a:prstDash val="solid"/>
          </a:ln>
        </p:spPr>
      </p:sp>
      <p:sp>
        <p:nvSpPr>
          <p:cNvPr id="22" name="arrow-142"/>
          <p:cNvSpPr/>
          <p:nvPr/>
        </p:nvSpPr>
        <p:spPr>
          <a:xfrm>
            <a:off x="11247120" y="1600200"/>
            <a:ext cx="0" cy="594360"/>
          </a:xfrm>
          <a:prstGeom prst="line">
            <a:avLst/>
          </a:prstGeom>
          <a:noFill/>
          <a:ln w="31750">
            <a:solidFill>
              <a:schemeClr val="accent3"/>
            </a:solidFill>
            <a:prstDash val="solid"/>
            <a:tailEnd type="triangle"/>
          </a:ln>
        </p:spPr>
      </p:sp>
      <p:sp>
        <p:nvSpPr>
          <p:cNvPr id="23" name="text-143"/>
          <p:cNvSpPr txBox="1"/>
          <p:nvPr/>
        </p:nvSpPr>
        <p:spPr>
          <a:xfrm>
            <a:off x="3840480" y="1261872"/>
            <a:ext cx="6766560" cy="274320"/>
          </a:xfrm>
          <a:prstGeom prst="rect">
            <a:avLst/>
          </a:prstGeom>
          <a:noFill/>
          <a:ln/>
        </p:spPr>
        <p:txBody>
          <a:bodyPr wrap="square" lIns="0" tIns="0" rIns="0" bIns="0" rtlCol="0" anchor="t"/>
          <a:lstStyle/>
          <a:p>
            <a:pPr indent="0" marL="0">
              <a:buNone/>
            </a:pPr>
            <a:r>
              <a:rPr lang="en-US" sz="1400" b="1" dirty="0">
                <a:solidFill>
                  <a:schemeClr val="accent3"/>
                </a:solidFill>
              </a:rPr>
              <a:t>AI answered in plain text: replaced by the fixed refusal, then END</a:t>
            </a:r>
            <a:endParaRPr lang="en-US" sz="1400" dirty="0"/>
          </a:p>
        </p:txBody>
      </p:sp>
      <p:sp>
        <p:nvSpPr>
          <p:cNvPr id="24" name="arrow-144"/>
          <p:cNvSpPr/>
          <p:nvPr/>
        </p:nvSpPr>
        <p:spPr>
          <a:xfrm>
            <a:off x="6263640" y="3017520"/>
            <a:ext cx="0" cy="365760"/>
          </a:xfrm>
          <a:prstGeom prst="line">
            <a:avLst/>
          </a:prstGeom>
          <a:noFill/>
          <a:ln w="31750">
            <a:solidFill>
              <a:schemeClr val="accent2"/>
            </a:solidFill>
            <a:prstDash val="solid"/>
          </a:ln>
        </p:spPr>
      </p:sp>
      <p:sp>
        <p:nvSpPr>
          <p:cNvPr id="25" name="arrow-145"/>
          <p:cNvSpPr/>
          <p:nvPr/>
        </p:nvSpPr>
        <p:spPr>
          <a:xfrm flipH="1">
            <a:off x="5669280" y="3383280"/>
            <a:ext cx="594360" cy="0"/>
          </a:xfrm>
          <a:prstGeom prst="line">
            <a:avLst/>
          </a:prstGeom>
          <a:noFill/>
          <a:ln w="31750">
            <a:solidFill>
              <a:schemeClr val="accent2"/>
            </a:solidFill>
            <a:prstDash val="solid"/>
          </a:ln>
        </p:spPr>
      </p:sp>
      <p:sp>
        <p:nvSpPr>
          <p:cNvPr id="26" name="arrow-146"/>
          <p:cNvSpPr/>
          <p:nvPr/>
        </p:nvSpPr>
        <p:spPr>
          <a:xfrm flipV="1">
            <a:off x="5669280" y="3017520"/>
            <a:ext cx="0" cy="365760"/>
          </a:xfrm>
          <a:prstGeom prst="line">
            <a:avLst/>
          </a:prstGeom>
          <a:noFill/>
          <a:ln w="31750">
            <a:solidFill>
              <a:schemeClr val="accent2"/>
            </a:solidFill>
            <a:prstDash val="solid"/>
            <a:tailEnd type="triangle"/>
          </a:ln>
        </p:spPr>
      </p:sp>
      <p:sp>
        <p:nvSpPr>
          <p:cNvPr id="27" name="text-147"/>
          <p:cNvSpPr txBox="1"/>
          <p:nvPr/>
        </p:nvSpPr>
        <p:spPr>
          <a:xfrm>
            <a:off x="6400800" y="3200400"/>
            <a:ext cx="3840480" cy="274320"/>
          </a:xfrm>
          <a:prstGeom prst="rect">
            <a:avLst/>
          </a:prstGeom>
          <a:noFill/>
          <a:ln/>
        </p:spPr>
        <p:txBody>
          <a:bodyPr wrap="square" lIns="0" tIns="0" rIns="0" bIns="0" rtlCol="0" anchor="t"/>
          <a:lstStyle/>
          <a:p>
            <a:pPr indent="0" marL="0">
              <a:buNone/>
            </a:pPr>
            <a:r>
              <a:rPr lang="en-US" sz="1400" b="1" dirty="0">
                <a:solidFill>
                  <a:schemeClr val="accent2"/>
                </a:solidFill>
              </a:rPr>
              <a:t>more tool calls waiting: run the next one</a:t>
            </a:r>
            <a:endParaRPr lang="en-US" sz="1400" dirty="0"/>
          </a:p>
        </p:txBody>
      </p:sp>
      <p:sp>
        <p:nvSpPr>
          <p:cNvPr id="28" name="arrow-148"/>
          <p:cNvSpPr/>
          <p:nvPr/>
        </p:nvSpPr>
        <p:spPr>
          <a:xfrm>
            <a:off x="5212080" y="3017520"/>
            <a:ext cx="0" cy="1005840"/>
          </a:xfrm>
          <a:prstGeom prst="line">
            <a:avLst/>
          </a:prstGeom>
          <a:noFill/>
          <a:ln w="31750">
            <a:solidFill>
              <a:schemeClr val="accent3"/>
            </a:solidFill>
            <a:prstDash val="solid"/>
          </a:ln>
        </p:spPr>
      </p:sp>
      <p:sp>
        <p:nvSpPr>
          <p:cNvPr id="29" name="arrow-149"/>
          <p:cNvSpPr/>
          <p:nvPr/>
        </p:nvSpPr>
        <p:spPr>
          <a:xfrm flipH="1">
            <a:off x="2971800" y="4023360"/>
            <a:ext cx="2240280" cy="0"/>
          </a:xfrm>
          <a:prstGeom prst="line">
            <a:avLst/>
          </a:prstGeom>
          <a:noFill/>
          <a:ln w="31750">
            <a:solidFill>
              <a:schemeClr val="accent3"/>
            </a:solidFill>
            <a:prstDash val="solid"/>
          </a:ln>
        </p:spPr>
      </p:sp>
      <p:sp>
        <p:nvSpPr>
          <p:cNvPr id="30" name="arrow-150"/>
          <p:cNvSpPr/>
          <p:nvPr/>
        </p:nvSpPr>
        <p:spPr>
          <a:xfrm flipV="1">
            <a:off x="2971800" y="3017520"/>
            <a:ext cx="0" cy="1005840"/>
          </a:xfrm>
          <a:prstGeom prst="line">
            <a:avLst/>
          </a:prstGeom>
          <a:noFill/>
          <a:ln w="31750">
            <a:solidFill>
              <a:schemeClr val="accent3"/>
            </a:solidFill>
            <a:prstDash val="solid"/>
            <a:tailEnd type="triangle"/>
          </a:ln>
        </p:spPr>
      </p:sp>
      <p:sp>
        <p:nvSpPr>
          <p:cNvPr id="31" name="text-151"/>
          <p:cNvSpPr txBox="1"/>
          <p:nvPr/>
        </p:nvSpPr>
        <p:spPr>
          <a:xfrm>
            <a:off x="3108960" y="4069080"/>
            <a:ext cx="3840480" cy="274320"/>
          </a:xfrm>
          <a:prstGeom prst="rect">
            <a:avLst/>
          </a:prstGeom>
          <a:noFill/>
          <a:ln/>
        </p:spPr>
        <p:txBody>
          <a:bodyPr wrap="square" lIns="0" tIns="0" rIns="0" bIns="0" rtlCol="0" anchor="t"/>
          <a:lstStyle/>
          <a:p>
            <a:pPr indent="0" marL="0">
              <a:buNone/>
            </a:pPr>
            <a:r>
              <a:rPr lang="en-US" sz="1400" b="1" dirty="0">
                <a:solidFill>
                  <a:schemeClr val="accent3"/>
                </a:solidFill>
              </a:rPr>
              <a:t>a tool failed: back to the AI to try again</a:t>
            </a:r>
            <a:endParaRPr lang="en-US" sz="1400" dirty="0"/>
          </a:p>
        </p:txBody>
      </p:sp>
      <p:sp>
        <p:nvSpPr>
          <p:cNvPr id="32" name="card-152"/>
          <p:cNvSpPr/>
          <p:nvPr/>
        </p:nvSpPr>
        <p:spPr>
          <a:xfrm>
            <a:off x="548640" y="4572000"/>
            <a:ext cx="3520440" cy="1737360"/>
          </a:xfrm>
          <a:prstGeom prst="roundRect">
            <a:avLst>
              <a:gd name="adj" fmla="val 6316"/>
            </a:avLst>
          </a:prstGeom>
          <a:solidFill>
            <a:schemeClr val="bg2"/>
          </a:solidFill>
          <a:ln w="12700">
            <a:solidFill>
              <a:schemeClr val="bg2"/>
            </a:solidFill>
            <a:prstDash val="solid"/>
          </a:ln>
        </p:spPr>
      </p:sp>
      <p:sp>
        <p:nvSpPr>
          <p:cNvPr id="33" name="dot-153"/>
          <p:cNvSpPr/>
          <p:nvPr/>
        </p:nvSpPr>
        <p:spPr>
          <a:xfrm>
            <a:off x="777240" y="4773168"/>
            <a:ext cx="256032" cy="256032"/>
          </a:xfrm>
          <a:prstGeom prst="ellipse">
            <a:avLst/>
          </a:prstGeom>
          <a:solidFill>
            <a:srgbClr val="163D73"/>
          </a:solidFill>
          <a:ln w="12700">
            <a:solidFill>
              <a:srgbClr val="163D73"/>
            </a:solidFill>
            <a:prstDash val="solid"/>
          </a:ln>
        </p:spPr>
      </p:sp>
      <p:sp>
        <p:nvSpPr>
          <p:cNvPr id="34" name="text-154"/>
          <p:cNvSpPr txBox="1"/>
          <p:nvPr/>
        </p:nvSpPr>
        <p:spPr>
          <a:xfrm>
            <a:off x="1143000" y="4709160"/>
            <a:ext cx="2743200" cy="365760"/>
          </a:xfrm>
          <a:prstGeom prst="rect">
            <a:avLst/>
          </a:prstGeom>
          <a:noFill/>
          <a:ln/>
        </p:spPr>
        <p:txBody>
          <a:bodyPr wrap="square" lIns="0" tIns="0" rIns="0" bIns="0" rtlCol="0" anchor="ctr"/>
          <a:lstStyle/>
          <a:p>
            <a:pPr indent="0" marL="0">
              <a:buNone/>
            </a:pPr>
            <a:r>
              <a:rPr lang="en-US" sz="1700" b="1" dirty="0">
                <a:solidFill>
                  <a:schemeClr val="tx2"/>
                </a:solidFill>
              </a:rPr>
              <a:t>agent: asks the AI</a:t>
            </a:r>
            <a:endParaRPr lang="en-US" sz="1700" dirty="0"/>
          </a:p>
        </p:txBody>
      </p:sp>
      <p:sp>
        <p:nvSpPr>
          <p:cNvPr id="35" name="text-155"/>
          <p:cNvSpPr txBox="1"/>
          <p:nvPr/>
        </p:nvSpPr>
        <p:spPr>
          <a:xfrm>
            <a:off x="777240" y="5212080"/>
            <a:ext cx="3108960" cy="1051560"/>
          </a:xfrm>
          <a:prstGeom prst="rect">
            <a:avLst/>
          </a:prstGeom>
          <a:noFill/>
          <a:ln/>
        </p:spPr>
        <p:txBody>
          <a:bodyPr wrap="square" lIns="0" tIns="0" rIns="0" bIns="0" rtlCol="0" anchor="t"/>
          <a:lstStyle/>
          <a:p>
            <a:pPr indent="0" marL="0">
              <a:buNone/>
            </a:pPr>
            <a:r>
              <a:rPr lang="en-US" sz="1400" dirty="0">
                <a:solidFill>
                  <a:schemeClr val="tx1"/>
                </a:solidFill>
              </a:rPr>
              <a:t>Adds today's date and your budget categories, sends the last 40 messages to the LLM and gets back the tools to run.</a:t>
            </a:r>
            <a:endParaRPr lang="en-US" sz="1400" dirty="0"/>
          </a:p>
        </p:txBody>
      </p:sp>
      <p:sp>
        <p:nvSpPr>
          <p:cNvPr id="36" name="card-156"/>
          <p:cNvSpPr/>
          <p:nvPr/>
        </p:nvSpPr>
        <p:spPr>
          <a:xfrm>
            <a:off x="4334256" y="4572000"/>
            <a:ext cx="3520440" cy="1737360"/>
          </a:xfrm>
          <a:prstGeom prst="roundRect">
            <a:avLst>
              <a:gd name="adj" fmla="val 6316"/>
            </a:avLst>
          </a:prstGeom>
          <a:solidFill>
            <a:schemeClr val="bg2"/>
          </a:solidFill>
          <a:ln w="12700">
            <a:solidFill>
              <a:schemeClr val="bg2"/>
            </a:solidFill>
            <a:prstDash val="solid"/>
          </a:ln>
        </p:spPr>
      </p:sp>
      <p:sp>
        <p:nvSpPr>
          <p:cNvPr id="37" name="dot-157"/>
          <p:cNvSpPr/>
          <p:nvPr/>
        </p:nvSpPr>
        <p:spPr>
          <a:xfrm>
            <a:off x="4562856" y="4773168"/>
            <a:ext cx="256032" cy="256032"/>
          </a:xfrm>
          <a:prstGeom prst="ellipse">
            <a:avLst/>
          </a:prstGeom>
          <a:solidFill>
            <a:srgbClr val="1F5FA8"/>
          </a:solidFill>
          <a:ln w="12700">
            <a:solidFill>
              <a:srgbClr val="1F5FA8"/>
            </a:solidFill>
            <a:prstDash val="solid"/>
          </a:ln>
        </p:spPr>
      </p:sp>
      <p:sp>
        <p:nvSpPr>
          <p:cNvPr id="38" name="text-158"/>
          <p:cNvSpPr txBox="1"/>
          <p:nvPr/>
        </p:nvSpPr>
        <p:spPr>
          <a:xfrm>
            <a:off x="4928616" y="4709160"/>
            <a:ext cx="2743200" cy="365760"/>
          </a:xfrm>
          <a:prstGeom prst="rect">
            <a:avLst/>
          </a:prstGeom>
          <a:noFill/>
          <a:ln/>
        </p:spPr>
        <p:txBody>
          <a:bodyPr wrap="square" lIns="0" tIns="0" rIns="0" bIns="0" rtlCol="0" anchor="ctr"/>
          <a:lstStyle/>
          <a:p>
            <a:pPr indent="0" marL="0">
              <a:buNone/>
            </a:pPr>
            <a:r>
              <a:rPr lang="en-US" sz="1700" b="1" dirty="0">
                <a:solidFill>
                  <a:schemeClr val="tx2"/>
                </a:solidFill>
              </a:rPr>
              <a:t>tools: does the work</a:t>
            </a:r>
            <a:endParaRPr lang="en-US" sz="1700" dirty="0"/>
          </a:p>
        </p:txBody>
      </p:sp>
      <p:sp>
        <p:nvSpPr>
          <p:cNvPr id="39" name="text-159"/>
          <p:cNvSpPr txBox="1"/>
          <p:nvPr/>
        </p:nvSpPr>
        <p:spPr>
          <a:xfrm>
            <a:off x="4562856" y="5212080"/>
            <a:ext cx="3108960" cy="1051560"/>
          </a:xfrm>
          <a:prstGeom prst="rect">
            <a:avLst/>
          </a:prstGeom>
          <a:noFill/>
          <a:ln/>
        </p:spPr>
        <p:txBody>
          <a:bodyPr wrap="square" lIns="0" tIns="0" rIns="0" bIns="0" rtlCol="0" anchor="t"/>
          <a:lstStyle/>
          <a:p>
            <a:pPr indent="0" marL="0">
              <a:buNone/>
            </a:pPr>
            <a:r>
              <a:rPr lang="en-US" sz="1400" dirty="0">
                <a:solidFill>
                  <a:schemeClr val="tx1"/>
                </a:solidFill>
              </a:rPr>
              <a:t>Runs one tool per step (add expense, transfer, budget...). It may pause to ask Cash or Bank. A failure is sent back.</a:t>
            </a:r>
            <a:endParaRPr lang="en-US" sz="1400" dirty="0"/>
          </a:p>
        </p:txBody>
      </p:sp>
      <p:sp>
        <p:nvSpPr>
          <p:cNvPr id="40" name="card-160"/>
          <p:cNvSpPr/>
          <p:nvPr/>
        </p:nvSpPr>
        <p:spPr>
          <a:xfrm>
            <a:off x="8119872" y="4572000"/>
            <a:ext cx="3520440" cy="1737360"/>
          </a:xfrm>
          <a:prstGeom prst="roundRect">
            <a:avLst>
              <a:gd name="adj" fmla="val 6316"/>
            </a:avLst>
          </a:prstGeom>
          <a:solidFill>
            <a:schemeClr val="bg2"/>
          </a:solidFill>
          <a:ln w="12700">
            <a:solidFill>
              <a:schemeClr val="bg2"/>
            </a:solidFill>
            <a:prstDash val="solid"/>
          </a:ln>
        </p:spPr>
      </p:sp>
      <p:sp>
        <p:nvSpPr>
          <p:cNvPr id="41" name="dot-161"/>
          <p:cNvSpPr/>
          <p:nvPr/>
        </p:nvSpPr>
        <p:spPr>
          <a:xfrm>
            <a:off x="8348472" y="4773168"/>
            <a:ext cx="256032" cy="256032"/>
          </a:xfrm>
          <a:prstGeom prst="ellipse">
            <a:avLst/>
          </a:prstGeom>
          <a:solidFill>
            <a:srgbClr val="F28C28"/>
          </a:solidFill>
          <a:ln w="12700">
            <a:solidFill>
              <a:srgbClr val="F28C28"/>
            </a:solidFill>
            <a:prstDash val="solid"/>
          </a:ln>
        </p:spPr>
      </p:sp>
      <p:sp>
        <p:nvSpPr>
          <p:cNvPr id="42" name="text-162"/>
          <p:cNvSpPr txBox="1"/>
          <p:nvPr/>
        </p:nvSpPr>
        <p:spPr>
          <a:xfrm>
            <a:off x="8714232" y="4709160"/>
            <a:ext cx="2743200" cy="365760"/>
          </a:xfrm>
          <a:prstGeom prst="rect">
            <a:avLst/>
          </a:prstGeom>
          <a:noFill/>
          <a:ln/>
        </p:spPr>
        <p:txBody>
          <a:bodyPr wrap="square" lIns="0" tIns="0" rIns="0" bIns="0" rtlCol="0" anchor="ctr"/>
          <a:lstStyle/>
          <a:p>
            <a:pPr indent="0" marL="0">
              <a:buNone/>
            </a:pPr>
            <a:r>
              <a:rPr lang="en-US" sz="1700" b="1" dirty="0">
                <a:solidFill>
                  <a:schemeClr val="tx2"/>
                </a:solidFill>
              </a:rPr>
              <a:t>respond: writes the reply</a:t>
            </a:r>
            <a:endParaRPr lang="en-US" sz="1700" dirty="0"/>
          </a:p>
        </p:txBody>
      </p:sp>
      <p:sp>
        <p:nvSpPr>
          <p:cNvPr id="43" name="text-163"/>
          <p:cNvSpPr txBox="1"/>
          <p:nvPr/>
        </p:nvSpPr>
        <p:spPr>
          <a:xfrm>
            <a:off x="8348472" y="5212080"/>
            <a:ext cx="3108960" cy="1051560"/>
          </a:xfrm>
          <a:prstGeom prst="rect">
            <a:avLst/>
          </a:prstGeom>
          <a:noFill/>
          <a:ln/>
        </p:spPr>
        <p:txBody>
          <a:bodyPr wrap="square" lIns="0" tIns="0" rIns="0" bIns="0" rtlCol="0" anchor="t"/>
          <a:lstStyle/>
          <a:p>
            <a:pPr indent="0" marL="0">
              <a:buNone/>
            </a:pPr>
            <a:r>
              <a:rPr lang="en-US" sz="1400" dirty="0">
                <a:solidFill>
                  <a:schemeClr val="tx1"/>
                </a:solidFill>
              </a:rPr>
              <a:t>Joins the tool results into one message with the latest balance and keeps the ids for the Undo button.</a:t>
            </a:r>
            <a:endParaRPr lang="en-US" sz="1400" dirty="0"/>
          </a:p>
        </p:txBody>
      </p:sp>
      <p:sp>
        <p:nvSpPr>
          <p:cNvPr id="25" name="Slide Number Placeholder 0"/>
          <p:cNvSpPr>
            <a:spLocks noGrp="1"/>
          </p:cNvSpPr>
          <p:nvPr>
            <p:ph type="sldNum" sz="quarter" idx="4294967295"/>
          </p:nvPr>
        </p:nvSpPr>
        <p:spPr>
          <a:xfrm>
            <a:off x="11064240" y="6446520"/>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800" b="1" dirty="0">
                <a:solidFill>
                  <a:schemeClr val="tx2"/>
                </a:solidFill>
              </a:rPr>
              <a:t>Examples</a:t>
            </a:r>
            <a:endParaRPr lang="en-US" sz="3800" dirty="0"/>
          </a:p>
        </p:txBody>
      </p:sp>
      <p:sp>
        <p:nvSpPr>
          <p:cNvPr id="4" name="box-164"/>
          <p:cNvSpPr/>
          <p:nvPr/>
        </p:nvSpPr>
        <p:spPr>
          <a:xfrm>
            <a:off x="548640" y="1371600"/>
            <a:ext cx="4206240" cy="685800"/>
          </a:xfrm>
          <a:prstGeom prst="roundRect">
            <a:avLst>
              <a:gd name="adj" fmla="val 13333"/>
            </a:avLst>
          </a:prstGeom>
          <a:solidFill>
            <a:schemeClr val="accent1"/>
          </a:solidFill>
          <a:ln w="12700">
            <a:solidFill>
              <a:schemeClr val="accent1"/>
            </a:solidFill>
            <a:prstDash val="solid"/>
          </a:ln>
        </p:spPr>
      </p:sp>
      <p:sp>
        <p:nvSpPr>
          <p:cNvPr id="5" name="text-165"/>
          <p:cNvSpPr txBox="1"/>
          <p:nvPr/>
        </p:nvSpPr>
        <p:spPr>
          <a:xfrm>
            <a:off x="640080" y="1371600"/>
            <a:ext cx="4023360" cy="685800"/>
          </a:xfrm>
          <a:prstGeom prst="rect">
            <a:avLst/>
          </a:prstGeom>
          <a:noFill/>
          <a:ln/>
        </p:spPr>
        <p:txBody>
          <a:bodyPr wrap="square" lIns="0" tIns="0" rIns="0" bIns="0" rtlCol="0" anchor="ctr"/>
          <a:lstStyle/>
          <a:p>
            <a:pPr algn="ctr" indent="0" marL="0">
              <a:buNone/>
            </a:pPr>
            <a:r>
              <a:rPr lang="en-US" sz="1600" dirty="0">
                <a:solidFill>
                  <a:schemeClr val="bg1"/>
                </a:solidFill>
              </a:rPr>
              <a:t>spent 300 on ice cream</a:t>
            </a:r>
            <a:endParaRPr lang="en-US" sz="1600" dirty="0"/>
          </a:p>
        </p:txBody>
      </p:sp>
      <p:sp>
        <p:nvSpPr>
          <p:cNvPr id="6" name="arrow-166"/>
          <p:cNvSpPr/>
          <p:nvPr/>
        </p:nvSpPr>
        <p:spPr>
          <a:xfrm>
            <a:off x="4846320" y="1714500"/>
            <a:ext cx="457200" cy="0"/>
          </a:xfrm>
          <a:prstGeom prst="line">
            <a:avLst/>
          </a:prstGeom>
          <a:noFill/>
          <a:ln w="31750">
            <a:solidFill>
              <a:schemeClr val="accent2"/>
            </a:solidFill>
            <a:prstDash val="solid"/>
            <a:tailEnd type="triangle"/>
          </a:ln>
        </p:spPr>
      </p:sp>
      <p:sp>
        <p:nvSpPr>
          <p:cNvPr id="7" name="card-167"/>
          <p:cNvSpPr/>
          <p:nvPr/>
        </p:nvSpPr>
        <p:spPr>
          <a:xfrm>
            <a:off x="5394960" y="1371600"/>
            <a:ext cx="6245352" cy="685800"/>
          </a:xfrm>
          <a:prstGeom prst="roundRect">
            <a:avLst>
              <a:gd name="adj" fmla="val 16000"/>
            </a:avLst>
          </a:prstGeom>
          <a:solidFill>
            <a:schemeClr val="bg2"/>
          </a:solidFill>
          <a:ln w="12700">
            <a:solidFill>
              <a:schemeClr val="bg2"/>
            </a:solidFill>
            <a:prstDash val="solid"/>
          </a:ln>
        </p:spPr>
      </p:sp>
      <p:sp>
        <p:nvSpPr>
          <p:cNvPr id="8" name="text-168"/>
          <p:cNvSpPr txBox="1"/>
          <p:nvPr/>
        </p:nvSpPr>
        <p:spPr>
          <a:xfrm>
            <a:off x="5577840" y="1371600"/>
            <a:ext cx="5943600" cy="685800"/>
          </a:xfrm>
          <a:prstGeom prst="rect">
            <a:avLst/>
          </a:prstGeom>
          <a:noFill/>
          <a:ln/>
        </p:spPr>
        <p:txBody>
          <a:bodyPr wrap="square" lIns="0" tIns="0" rIns="0" bIns="0" rtlCol="0" anchor="ctr"/>
          <a:lstStyle/>
          <a:p>
            <a:pPr indent="0" marL="0">
              <a:buNone/>
            </a:pPr>
            <a:r>
              <a:rPr lang="en-US" sz="1500" dirty="0">
                <a:solidFill>
                  <a:schemeClr val="tx1"/>
                </a:solidFill>
              </a:rPr>
              <a:t>Asks Cash or Bank, then takes ₹300 from that account and shows the new balance.</a:t>
            </a:r>
            <a:endParaRPr lang="en-US" sz="1500" dirty="0"/>
          </a:p>
        </p:txBody>
      </p:sp>
      <p:sp>
        <p:nvSpPr>
          <p:cNvPr id="9" name="box-169"/>
          <p:cNvSpPr/>
          <p:nvPr/>
        </p:nvSpPr>
        <p:spPr>
          <a:xfrm>
            <a:off x="548640" y="2194560"/>
            <a:ext cx="4206240" cy="685800"/>
          </a:xfrm>
          <a:prstGeom prst="roundRect">
            <a:avLst>
              <a:gd name="adj" fmla="val 13333"/>
            </a:avLst>
          </a:prstGeom>
          <a:solidFill>
            <a:schemeClr val="accent1"/>
          </a:solidFill>
          <a:ln w="12700">
            <a:solidFill>
              <a:schemeClr val="accent1"/>
            </a:solidFill>
            <a:prstDash val="solid"/>
          </a:ln>
        </p:spPr>
      </p:sp>
      <p:sp>
        <p:nvSpPr>
          <p:cNvPr id="10" name="text-170"/>
          <p:cNvSpPr txBox="1"/>
          <p:nvPr/>
        </p:nvSpPr>
        <p:spPr>
          <a:xfrm>
            <a:off x="640080" y="2194560"/>
            <a:ext cx="4023360" cy="685800"/>
          </a:xfrm>
          <a:prstGeom prst="rect">
            <a:avLst/>
          </a:prstGeom>
          <a:noFill/>
          <a:ln/>
        </p:spPr>
        <p:txBody>
          <a:bodyPr wrap="square" lIns="0" tIns="0" rIns="0" bIns="0" rtlCol="0" anchor="ctr"/>
          <a:lstStyle/>
          <a:p>
            <a:pPr algn="ctr" indent="0" marL="0">
              <a:buNone/>
            </a:pPr>
            <a:r>
              <a:rPr lang="en-US" sz="1600" dirty="0">
                <a:solidFill>
                  <a:schemeClr val="bg1"/>
                </a:solidFill>
              </a:rPr>
              <a:t>got 15k stipend in bank</a:t>
            </a:r>
            <a:endParaRPr lang="en-US" sz="1600" dirty="0"/>
          </a:p>
        </p:txBody>
      </p:sp>
      <p:sp>
        <p:nvSpPr>
          <p:cNvPr id="11" name="arrow-171"/>
          <p:cNvSpPr/>
          <p:nvPr/>
        </p:nvSpPr>
        <p:spPr>
          <a:xfrm>
            <a:off x="4846320" y="2537460"/>
            <a:ext cx="457200" cy="0"/>
          </a:xfrm>
          <a:prstGeom prst="line">
            <a:avLst/>
          </a:prstGeom>
          <a:noFill/>
          <a:ln w="31750">
            <a:solidFill>
              <a:schemeClr val="accent2"/>
            </a:solidFill>
            <a:prstDash val="solid"/>
            <a:tailEnd type="triangle"/>
          </a:ln>
        </p:spPr>
      </p:sp>
      <p:sp>
        <p:nvSpPr>
          <p:cNvPr id="12" name="card-172"/>
          <p:cNvSpPr/>
          <p:nvPr/>
        </p:nvSpPr>
        <p:spPr>
          <a:xfrm>
            <a:off x="5394960" y="2194560"/>
            <a:ext cx="6245352" cy="685800"/>
          </a:xfrm>
          <a:prstGeom prst="roundRect">
            <a:avLst>
              <a:gd name="adj" fmla="val 16000"/>
            </a:avLst>
          </a:prstGeom>
          <a:solidFill>
            <a:schemeClr val="bg2"/>
          </a:solidFill>
          <a:ln w="12700">
            <a:solidFill>
              <a:schemeClr val="bg2"/>
            </a:solidFill>
            <a:prstDash val="solid"/>
          </a:ln>
        </p:spPr>
      </p:sp>
      <p:sp>
        <p:nvSpPr>
          <p:cNvPr id="13" name="text-173"/>
          <p:cNvSpPr txBox="1"/>
          <p:nvPr/>
        </p:nvSpPr>
        <p:spPr>
          <a:xfrm>
            <a:off x="5577840" y="2194560"/>
            <a:ext cx="5943600" cy="685800"/>
          </a:xfrm>
          <a:prstGeom prst="rect">
            <a:avLst/>
          </a:prstGeom>
          <a:noFill/>
          <a:ln/>
        </p:spPr>
        <p:txBody>
          <a:bodyPr wrap="square" lIns="0" tIns="0" rIns="0" bIns="0" rtlCol="0" anchor="ctr"/>
          <a:lstStyle/>
          <a:p>
            <a:pPr indent="0" marL="0">
              <a:buNone/>
            </a:pPr>
            <a:r>
              <a:rPr lang="en-US" sz="1500" dirty="0">
                <a:solidFill>
                  <a:schemeClr val="tx1"/>
                </a:solidFill>
              </a:rPr>
              <a:t>Adds ₹15,000 to the bank balance as income.</a:t>
            </a:r>
            <a:endParaRPr lang="en-US" sz="1500" dirty="0"/>
          </a:p>
        </p:txBody>
      </p:sp>
      <p:sp>
        <p:nvSpPr>
          <p:cNvPr id="14" name="box-174"/>
          <p:cNvSpPr/>
          <p:nvPr/>
        </p:nvSpPr>
        <p:spPr>
          <a:xfrm>
            <a:off x="548640" y="3017520"/>
            <a:ext cx="4206240" cy="685800"/>
          </a:xfrm>
          <a:prstGeom prst="roundRect">
            <a:avLst>
              <a:gd name="adj" fmla="val 13333"/>
            </a:avLst>
          </a:prstGeom>
          <a:solidFill>
            <a:schemeClr val="accent1"/>
          </a:solidFill>
          <a:ln w="12700">
            <a:solidFill>
              <a:schemeClr val="accent1"/>
            </a:solidFill>
            <a:prstDash val="solid"/>
          </a:ln>
        </p:spPr>
      </p:sp>
      <p:sp>
        <p:nvSpPr>
          <p:cNvPr id="15" name="text-175"/>
          <p:cNvSpPr txBox="1"/>
          <p:nvPr/>
        </p:nvSpPr>
        <p:spPr>
          <a:xfrm>
            <a:off x="640080" y="3017520"/>
            <a:ext cx="4023360" cy="685800"/>
          </a:xfrm>
          <a:prstGeom prst="rect">
            <a:avLst/>
          </a:prstGeom>
          <a:noFill/>
          <a:ln/>
        </p:spPr>
        <p:txBody>
          <a:bodyPr wrap="square" lIns="0" tIns="0" rIns="0" bIns="0" rtlCol="0" anchor="ctr"/>
          <a:lstStyle/>
          <a:p>
            <a:pPr algn="ctr" indent="0" marL="0">
              <a:buNone/>
            </a:pPr>
            <a:r>
              <a:rPr lang="en-US" sz="1600" dirty="0">
                <a:solidFill>
                  <a:schemeClr val="bg1"/>
                </a:solidFill>
              </a:rPr>
              <a:t>withdrew 2000 from ATM</a:t>
            </a:r>
            <a:endParaRPr lang="en-US" sz="1600" dirty="0"/>
          </a:p>
        </p:txBody>
      </p:sp>
      <p:sp>
        <p:nvSpPr>
          <p:cNvPr id="16" name="arrow-176"/>
          <p:cNvSpPr/>
          <p:nvPr/>
        </p:nvSpPr>
        <p:spPr>
          <a:xfrm>
            <a:off x="4846320" y="3360420"/>
            <a:ext cx="457200" cy="0"/>
          </a:xfrm>
          <a:prstGeom prst="line">
            <a:avLst/>
          </a:prstGeom>
          <a:noFill/>
          <a:ln w="31750">
            <a:solidFill>
              <a:schemeClr val="accent2"/>
            </a:solidFill>
            <a:prstDash val="solid"/>
            <a:tailEnd type="triangle"/>
          </a:ln>
        </p:spPr>
      </p:sp>
      <p:sp>
        <p:nvSpPr>
          <p:cNvPr id="17" name="card-177"/>
          <p:cNvSpPr/>
          <p:nvPr/>
        </p:nvSpPr>
        <p:spPr>
          <a:xfrm>
            <a:off x="5394960" y="3017520"/>
            <a:ext cx="6245352" cy="685800"/>
          </a:xfrm>
          <a:prstGeom prst="roundRect">
            <a:avLst>
              <a:gd name="adj" fmla="val 16000"/>
            </a:avLst>
          </a:prstGeom>
          <a:solidFill>
            <a:schemeClr val="bg2"/>
          </a:solidFill>
          <a:ln w="12700">
            <a:solidFill>
              <a:schemeClr val="bg2"/>
            </a:solidFill>
            <a:prstDash val="solid"/>
          </a:ln>
        </p:spPr>
      </p:sp>
      <p:sp>
        <p:nvSpPr>
          <p:cNvPr id="18" name="text-178"/>
          <p:cNvSpPr txBox="1"/>
          <p:nvPr/>
        </p:nvSpPr>
        <p:spPr>
          <a:xfrm>
            <a:off x="5577840" y="3017520"/>
            <a:ext cx="5943600" cy="685800"/>
          </a:xfrm>
          <a:prstGeom prst="rect">
            <a:avLst/>
          </a:prstGeom>
          <a:noFill/>
          <a:ln/>
        </p:spPr>
        <p:txBody>
          <a:bodyPr wrap="square" lIns="0" tIns="0" rIns="0" bIns="0" rtlCol="0" anchor="ctr"/>
          <a:lstStyle/>
          <a:p>
            <a:pPr indent="0" marL="0">
              <a:buNone/>
            </a:pPr>
            <a:r>
              <a:rPr lang="en-US" sz="1500" dirty="0">
                <a:solidFill>
                  <a:schemeClr val="tx1"/>
                </a:solidFill>
              </a:rPr>
              <a:t>Moves ₹2,000 from bank to cash. It is not counted as spending.</a:t>
            </a:r>
            <a:endParaRPr lang="en-US" sz="1500" dirty="0"/>
          </a:p>
        </p:txBody>
      </p:sp>
      <p:sp>
        <p:nvSpPr>
          <p:cNvPr id="19" name="box-179"/>
          <p:cNvSpPr/>
          <p:nvPr/>
        </p:nvSpPr>
        <p:spPr>
          <a:xfrm>
            <a:off x="548640" y="3840480"/>
            <a:ext cx="4206240" cy="685800"/>
          </a:xfrm>
          <a:prstGeom prst="roundRect">
            <a:avLst>
              <a:gd name="adj" fmla="val 13333"/>
            </a:avLst>
          </a:prstGeom>
          <a:solidFill>
            <a:schemeClr val="accent1"/>
          </a:solidFill>
          <a:ln w="12700">
            <a:solidFill>
              <a:schemeClr val="accent1"/>
            </a:solidFill>
            <a:prstDash val="solid"/>
          </a:ln>
        </p:spPr>
      </p:sp>
      <p:sp>
        <p:nvSpPr>
          <p:cNvPr id="20" name="text-180"/>
          <p:cNvSpPr txBox="1"/>
          <p:nvPr/>
        </p:nvSpPr>
        <p:spPr>
          <a:xfrm>
            <a:off x="640080" y="3840480"/>
            <a:ext cx="4023360" cy="685800"/>
          </a:xfrm>
          <a:prstGeom prst="rect">
            <a:avLst/>
          </a:prstGeom>
          <a:noFill/>
          <a:ln/>
        </p:spPr>
        <p:txBody>
          <a:bodyPr wrap="square" lIns="0" tIns="0" rIns="0" bIns="0" rtlCol="0" anchor="ctr"/>
          <a:lstStyle/>
          <a:p>
            <a:pPr algn="ctr" indent="0" marL="0">
              <a:buNone/>
            </a:pPr>
            <a:r>
              <a:rPr lang="en-US" sz="1600" dirty="0">
                <a:solidFill>
                  <a:schemeClr val="bg1"/>
                </a:solidFill>
              </a:rPr>
              <a:t>set a limit of 3k for food</a:t>
            </a:r>
            <a:endParaRPr lang="en-US" sz="1600" dirty="0"/>
          </a:p>
        </p:txBody>
      </p:sp>
      <p:sp>
        <p:nvSpPr>
          <p:cNvPr id="21" name="arrow-181"/>
          <p:cNvSpPr/>
          <p:nvPr/>
        </p:nvSpPr>
        <p:spPr>
          <a:xfrm>
            <a:off x="4846320" y="4183380"/>
            <a:ext cx="457200" cy="0"/>
          </a:xfrm>
          <a:prstGeom prst="line">
            <a:avLst/>
          </a:prstGeom>
          <a:noFill/>
          <a:ln w="31750">
            <a:solidFill>
              <a:schemeClr val="accent2"/>
            </a:solidFill>
            <a:prstDash val="solid"/>
            <a:tailEnd type="triangle"/>
          </a:ln>
        </p:spPr>
      </p:sp>
      <p:sp>
        <p:nvSpPr>
          <p:cNvPr id="22" name="card-182"/>
          <p:cNvSpPr/>
          <p:nvPr/>
        </p:nvSpPr>
        <p:spPr>
          <a:xfrm>
            <a:off x="5394960" y="3840480"/>
            <a:ext cx="6245352" cy="685800"/>
          </a:xfrm>
          <a:prstGeom prst="roundRect">
            <a:avLst>
              <a:gd name="adj" fmla="val 16000"/>
            </a:avLst>
          </a:prstGeom>
          <a:solidFill>
            <a:schemeClr val="bg2"/>
          </a:solidFill>
          <a:ln w="12700">
            <a:solidFill>
              <a:schemeClr val="bg2"/>
            </a:solidFill>
            <a:prstDash val="solid"/>
          </a:ln>
        </p:spPr>
      </p:sp>
      <p:sp>
        <p:nvSpPr>
          <p:cNvPr id="23" name="text-183"/>
          <p:cNvSpPr txBox="1"/>
          <p:nvPr/>
        </p:nvSpPr>
        <p:spPr>
          <a:xfrm>
            <a:off x="5577840" y="3840480"/>
            <a:ext cx="5943600" cy="685800"/>
          </a:xfrm>
          <a:prstGeom prst="rect">
            <a:avLst/>
          </a:prstGeom>
          <a:noFill/>
          <a:ln/>
        </p:spPr>
        <p:txBody>
          <a:bodyPr wrap="square" lIns="0" tIns="0" rIns="0" bIns="0" rtlCol="0" anchor="ctr"/>
          <a:lstStyle/>
          <a:p>
            <a:pPr indent="0" marL="0">
              <a:buNone/>
            </a:pPr>
            <a:r>
              <a:rPr lang="en-US" sz="1500" dirty="0">
                <a:solidFill>
                  <a:schemeClr val="tx1"/>
                </a:solidFill>
              </a:rPr>
              <a:t>Creates a monthly budget and warns you at 50%, 80% and 100% used.</a:t>
            </a:r>
            <a:endParaRPr lang="en-US" sz="1500" dirty="0"/>
          </a:p>
        </p:txBody>
      </p:sp>
      <p:sp>
        <p:nvSpPr>
          <p:cNvPr id="24" name="box-184"/>
          <p:cNvSpPr/>
          <p:nvPr/>
        </p:nvSpPr>
        <p:spPr>
          <a:xfrm>
            <a:off x="548640" y="4663440"/>
            <a:ext cx="4206240" cy="685800"/>
          </a:xfrm>
          <a:prstGeom prst="roundRect">
            <a:avLst>
              <a:gd name="adj" fmla="val 13333"/>
            </a:avLst>
          </a:prstGeom>
          <a:solidFill>
            <a:schemeClr val="accent1"/>
          </a:solidFill>
          <a:ln w="12700">
            <a:solidFill>
              <a:schemeClr val="accent1"/>
            </a:solidFill>
            <a:prstDash val="solid"/>
          </a:ln>
        </p:spPr>
      </p:sp>
      <p:sp>
        <p:nvSpPr>
          <p:cNvPr id="25" name="text-185"/>
          <p:cNvSpPr txBox="1"/>
          <p:nvPr/>
        </p:nvSpPr>
        <p:spPr>
          <a:xfrm>
            <a:off x="640080" y="4663440"/>
            <a:ext cx="4023360" cy="685800"/>
          </a:xfrm>
          <a:prstGeom prst="rect">
            <a:avLst/>
          </a:prstGeom>
          <a:noFill/>
          <a:ln/>
        </p:spPr>
        <p:txBody>
          <a:bodyPr wrap="square" lIns="0" tIns="0" rIns="0" bIns="0" rtlCol="0" anchor="ctr"/>
          <a:lstStyle/>
          <a:p>
            <a:pPr algn="ctr" indent="0" marL="0">
              <a:buNone/>
            </a:pPr>
            <a:r>
              <a:rPr lang="en-US" sz="1600" dirty="0">
                <a:solidFill>
                  <a:schemeClr val="bg1"/>
                </a:solidFill>
              </a:rPr>
              <a:t>(send a bank statement PDF)</a:t>
            </a:r>
            <a:endParaRPr lang="en-US" sz="1600" dirty="0"/>
          </a:p>
        </p:txBody>
      </p:sp>
      <p:sp>
        <p:nvSpPr>
          <p:cNvPr id="26" name="arrow-186"/>
          <p:cNvSpPr/>
          <p:nvPr/>
        </p:nvSpPr>
        <p:spPr>
          <a:xfrm>
            <a:off x="4846320" y="5006340"/>
            <a:ext cx="457200" cy="0"/>
          </a:xfrm>
          <a:prstGeom prst="line">
            <a:avLst/>
          </a:prstGeom>
          <a:noFill/>
          <a:ln w="31750">
            <a:solidFill>
              <a:schemeClr val="accent2"/>
            </a:solidFill>
            <a:prstDash val="solid"/>
            <a:tailEnd type="triangle"/>
          </a:ln>
        </p:spPr>
      </p:sp>
      <p:sp>
        <p:nvSpPr>
          <p:cNvPr id="27" name="card-187"/>
          <p:cNvSpPr/>
          <p:nvPr/>
        </p:nvSpPr>
        <p:spPr>
          <a:xfrm>
            <a:off x="5394960" y="4663440"/>
            <a:ext cx="6245352" cy="685800"/>
          </a:xfrm>
          <a:prstGeom prst="roundRect">
            <a:avLst>
              <a:gd name="adj" fmla="val 16000"/>
            </a:avLst>
          </a:prstGeom>
          <a:solidFill>
            <a:schemeClr val="bg2"/>
          </a:solidFill>
          <a:ln w="12700">
            <a:solidFill>
              <a:schemeClr val="bg2"/>
            </a:solidFill>
            <a:prstDash val="solid"/>
          </a:ln>
        </p:spPr>
      </p:sp>
      <p:sp>
        <p:nvSpPr>
          <p:cNvPr id="28" name="text-188"/>
          <p:cNvSpPr txBox="1"/>
          <p:nvPr/>
        </p:nvSpPr>
        <p:spPr>
          <a:xfrm>
            <a:off x="5577840" y="4663440"/>
            <a:ext cx="5943600" cy="685800"/>
          </a:xfrm>
          <a:prstGeom prst="rect">
            <a:avLst/>
          </a:prstGeom>
          <a:noFill/>
          <a:ln/>
        </p:spPr>
        <p:txBody>
          <a:bodyPr wrap="square" lIns="0" tIns="0" rIns="0" bIns="0" rtlCol="0" anchor="ctr"/>
          <a:lstStyle/>
          <a:p>
            <a:pPr indent="0" marL="0">
              <a:buNone/>
            </a:pPr>
            <a:r>
              <a:rPr lang="en-US" sz="1500" dirty="0">
                <a:solidFill>
                  <a:schemeClr val="tx1"/>
                </a:solidFill>
              </a:rPr>
              <a:t>Reads every row, shows a preview, and adds them after you confirm.</a:t>
            </a:r>
            <a:endParaRPr lang="en-US" sz="1500" dirty="0"/>
          </a:p>
        </p:txBody>
      </p:sp>
      <p:sp>
        <p:nvSpPr>
          <p:cNvPr id="29" name="box-189"/>
          <p:cNvSpPr/>
          <p:nvPr/>
        </p:nvSpPr>
        <p:spPr>
          <a:xfrm>
            <a:off x="548640" y="5486400"/>
            <a:ext cx="4206240" cy="685800"/>
          </a:xfrm>
          <a:prstGeom prst="roundRect">
            <a:avLst>
              <a:gd name="adj" fmla="val 13333"/>
            </a:avLst>
          </a:prstGeom>
          <a:solidFill>
            <a:schemeClr val="accent1"/>
          </a:solidFill>
          <a:ln w="12700">
            <a:solidFill>
              <a:schemeClr val="accent1"/>
            </a:solidFill>
            <a:prstDash val="solid"/>
          </a:ln>
        </p:spPr>
      </p:sp>
      <p:sp>
        <p:nvSpPr>
          <p:cNvPr id="30" name="text-190"/>
          <p:cNvSpPr txBox="1"/>
          <p:nvPr/>
        </p:nvSpPr>
        <p:spPr>
          <a:xfrm>
            <a:off x="640080" y="5486400"/>
            <a:ext cx="4023360" cy="685800"/>
          </a:xfrm>
          <a:prstGeom prst="rect">
            <a:avLst/>
          </a:prstGeom>
          <a:noFill/>
          <a:ln/>
        </p:spPr>
        <p:txBody>
          <a:bodyPr wrap="square" lIns="0" tIns="0" rIns="0" bIns="0" rtlCol="0" anchor="ctr"/>
          <a:lstStyle/>
          <a:p>
            <a:pPr algn="ctr" indent="0" marL="0">
              <a:buNone/>
            </a:pPr>
            <a:r>
              <a:rPr lang="en-US" sz="1600" dirty="0">
                <a:solidFill>
                  <a:schemeClr val="bg1"/>
                </a:solidFill>
              </a:rPr>
              <a:t>how much did I spend in september</a:t>
            </a:r>
            <a:endParaRPr lang="en-US" sz="1600" dirty="0"/>
          </a:p>
        </p:txBody>
      </p:sp>
      <p:sp>
        <p:nvSpPr>
          <p:cNvPr id="31" name="arrow-191"/>
          <p:cNvSpPr/>
          <p:nvPr/>
        </p:nvSpPr>
        <p:spPr>
          <a:xfrm>
            <a:off x="4846320" y="5829300"/>
            <a:ext cx="457200" cy="0"/>
          </a:xfrm>
          <a:prstGeom prst="line">
            <a:avLst/>
          </a:prstGeom>
          <a:noFill/>
          <a:ln w="31750">
            <a:solidFill>
              <a:schemeClr val="accent2"/>
            </a:solidFill>
            <a:prstDash val="solid"/>
            <a:tailEnd type="triangle"/>
          </a:ln>
        </p:spPr>
      </p:sp>
      <p:sp>
        <p:nvSpPr>
          <p:cNvPr id="32" name="card-192"/>
          <p:cNvSpPr/>
          <p:nvPr/>
        </p:nvSpPr>
        <p:spPr>
          <a:xfrm>
            <a:off x="5394960" y="5486400"/>
            <a:ext cx="6245352" cy="685800"/>
          </a:xfrm>
          <a:prstGeom prst="roundRect">
            <a:avLst>
              <a:gd name="adj" fmla="val 16000"/>
            </a:avLst>
          </a:prstGeom>
          <a:solidFill>
            <a:schemeClr val="bg2"/>
          </a:solidFill>
          <a:ln w="12700">
            <a:solidFill>
              <a:schemeClr val="bg2"/>
            </a:solidFill>
            <a:prstDash val="solid"/>
          </a:ln>
        </p:spPr>
      </p:sp>
      <p:sp>
        <p:nvSpPr>
          <p:cNvPr id="33" name="text-193"/>
          <p:cNvSpPr txBox="1"/>
          <p:nvPr/>
        </p:nvSpPr>
        <p:spPr>
          <a:xfrm>
            <a:off x="5577840" y="5486400"/>
            <a:ext cx="5943600" cy="685800"/>
          </a:xfrm>
          <a:prstGeom prst="rect">
            <a:avLst/>
          </a:prstGeom>
          <a:noFill/>
          <a:ln/>
        </p:spPr>
        <p:txBody>
          <a:bodyPr wrap="square" lIns="0" tIns="0" rIns="0" bIns="0" rtlCol="0" anchor="ctr"/>
          <a:lstStyle/>
          <a:p>
            <a:pPr indent="0" marL="0">
              <a:buNone/>
            </a:pPr>
            <a:r>
              <a:rPr lang="en-US" sz="1500" dirty="0">
                <a:solidFill>
                  <a:schemeClr val="tx1"/>
                </a:solidFill>
              </a:rPr>
              <a:t>Shows September's spending split by category.</a:t>
            </a:r>
            <a:endParaRPr lang="en-US" sz="1500" dirty="0"/>
          </a:p>
        </p:txBody>
      </p:sp>
      <p:sp>
        <p:nvSpPr>
          <p:cNvPr id="34" name="text-194"/>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500" i="1" dirty="0">
                <a:solidFill>
                  <a:schemeClr val="accent1"/>
                </a:solidFill>
              </a:rPr>
              <a:t>Anything that is not about your own wallet (coding, general questions) is politely refused.</a:t>
            </a:r>
            <a:endParaRPr lang="en-US" sz="1500" dirty="0"/>
          </a:p>
        </p:txBody>
      </p:sp>
      <p:sp>
        <p:nvSpPr>
          <p:cNvPr id="25" name="Slide Number Placeholder 0"/>
          <p:cNvSpPr>
            <a:spLocks noGrp="1"/>
          </p:cNvSpPr>
          <p:nvPr>
            <p:ph type="sldNum" sz="quarter" idx="4294967295"/>
          </p:nvPr>
        </p:nvSpPr>
        <p:spPr>
          <a:xfrm>
            <a:off x="11064240" y="6446520"/>
            <a:ext cx="57607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Expense Tracker Orange Blue">
  <a:themeElements>
    <a:clrScheme name="Expense Tracker Orange Blue">
      <a:dk1>
        <a:srgbClr val="13233A"/>
      </a:dk1>
      <a:lt1>
        <a:srgbClr val="FFFFFF"/>
      </a:lt1>
      <a:dk2>
        <a:srgbClr val="0B2545"/>
      </a:dk2>
      <a:lt2>
        <a:srgbClr val="EAF1FB"/>
      </a:lt2>
      <a:accent1>
        <a:srgbClr val="1F5FA8"/>
      </a:accent1>
      <a:accent2>
        <a:srgbClr val="F28C28"/>
      </a:accent2>
      <a:accent3>
        <a:srgbClr val="D9480F"/>
      </a:accent3>
      <a:accent4>
        <a:srgbClr val="7FA8DC"/>
      </a:accent4>
      <a:accent5>
        <a:srgbClr val="2E6FD1"/>
      </a:accent5>
      <a:accent6>
        <a:srgbClr val="163D73"/>
      </a:accent6>
      <a:hlink>
        <a:srgbClr val="1F5FA8"/>
      </a:hlink>
      <a:folHlink>
        <a:srgbClr val="163D73"/>
      </a:folHlink>
    </a:clrScheme>
    <a:fontScheme name="Expense Tracker Orange Blu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Expense Tracker</dc:title>
  <dc:subject>PptxGenJS Presentation</dc:subject>
  <dc:creator>Expense Tracker project</dc:creator>
  <cp:lastModifiedBy>Expense Tracker project</cp:lastModifiedBy>
  <cp:revision>1</cp:revision>
  <dcterms:created xsi:type="dcterms:W3CDTF">2026-10-22T06:16:16Z</dcterms:created>
  <dcterms:modified xsi:type="dcterms:W3CDTF">2026-10-22T06:16:16Z</dcterms:modified>
</cp:coreProperties>
</file>